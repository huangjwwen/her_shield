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370DB"/>
              </a:solidFill>
              <a:effectLst/>
            </c:spPr>
          </c:dPt>
          <c:dPt>
            <c:idx val="1"/>
            <c:bubble3D val="0"/>
            <c:spPr>
              <a:solidFill>
                <a:srgbClr val="EAE3F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判对(79)</c:v>
                </c:pt>
                <c:pt idx="1">
                  <c:v>判错(21)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79</c:v>
                </c:pt>
                <c:pt idx="1">
                  <c:v>21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DFBFB"/>
    </a:solidFill>
    <a:ln w="12700" cap="flat">
      <a:solidFill>
        <a:srgbClr val="FDFBFB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389120" cy="4389120"/>
          </a:xfrm>
          <a:prstGeom prst="ellipse">
            <a:avLst/>
          </a:prstGeom>
          <a:solidFill>
            <a:srgbClr val="E8B4B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2926080"/>
            <a:ext cx="5029200" cy="5029200"/>
          </a:xfrm>
          <a:prstGeom prst="ellipse">
            <a:avLst/>
          </a:prstGeom>
          <a:solidFill>
            <a:srgbClr val="B8A9E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3474720"/>
            <a:ext cx="45720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7620">
            <a:solidFill>
              <a:srgbClr val="9370D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3520440" cy="35204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6" name="Image 0" descr="D:\tad-sheild\her_shield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3246120" cy="32461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6052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SHE · SHIELD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60520" y="13258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她盾</a:t>
            </a:r>
            <a:endParaRPr lang="en-US" sz="11000" dirty="0"/>
          </a:p>
        </p:txBody>
      </p:sp>
      <p:sp>
        <p:nvSpPr>
          <p:cNvPr id="9" name="Text 6"/>
          <p:cNvSpPr/>
          <p:nvPr/>
        </p:nvSpPr>
        <p:spPr>
          <a:xfrm>
            <a:off x="416052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职场女性权益守护智能体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160520" y="3383280"/>
            <a:ext cx="640080" cy="0"/>
          </a:xfrm>
          <a:prstGeom prst="line">
            <a:avLst/>
          </a:prstGeom>
          <a:noFill/>
          <a:ln w="44450">
            <a:solidFill>
              <a:srgbClr val="E8B4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"你的身后,站着一个懂法更懂你的「她」"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6350">
            <a:solidFill>
              <a:srgbClr val="B8A9E0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 · 她说了算队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0" y="4480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第十七届中国大学生服务外包大赛 · 腾讯开悟全球 AI 公开赛 D06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0" y="4736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一条断裂的链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在每一个被沉默的瞬间,究竟卡在哪一环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128016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60.9%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求职女性被询问婚育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智联招聘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128016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&lt; 30%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职场性别歧视案胜诉率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中国裁判文书网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128016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7%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7220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性骚扰受害者选择报警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全国妇联统计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五层用户困境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640080" cy="640080"/>
          </a:xfrm>
          <a:prstGeom prst="ellipse">
            <a:avLst/>
          </a:prstGeom>
          <a:solidFill>
            <a:srgbClr val="CCC8D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不知违法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57400" y="3520440"/>
            <a:ext cx="640080" cy="640080"/>
          </a:xfrm>
          <a:prstGeom prst="ellipse">
            <a:avLst/>
          </a:prstGeom>
          <a:solidFill>
            <a:srgbClr val="B8A9E0"/>
          </a:solidFill>
          <a:ln/>
        </p:spPr>
      </p:sp>
      <p:sp>
        <p:nvSpPr>
          <p:cNvPr id="30" name="Text 28"/>
          <p:cNvSpPr/>
          <p:nvPr/>
        </p:nvSpPr>
        <p:spPr>
          <a:xfrm>
            <a:off x="20574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4320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不知找谁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3520440"/>
            <a:ext cx="640080" cy="640080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34" name="Text 32"/>
          <p:cNvSpPr/>
          <p:nvPr/>
        </p:nvSpPr>
        <p:spPr>
          <a:xfrm>
            <a:off x="37490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3484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3484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不会取证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35204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2648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不敢维权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3520440"/>
            <a:ext cx="640080" cy="640080"/>
          </a:xfrm>
          <a:prstGeom prst="ellipse">
            <a:avLst/>
          </a:prstGeom>
          <a:solidFill>
            <a:srgbClr val="7B5DC4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81812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归属层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1812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孤立无援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我们要做的,是把这条断裂链重新接上。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差异化定位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法律深度 × 情感支持 — 她盾占据独家象限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417320"/>
            <a:ext cx="2560320" cy="1508760"/>
          </a:xfrm>
          <a:prstGeom prst="rect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2926080"/>
            <a:ext cx="51206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417320"/>
            <a:ext cx="0" cy="301752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法律专业深度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情感支持 / 低门槛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67528" y="3630168"/>
            <a:ext cx="237744" cy="237744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913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通用法律咨询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4160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律图/找法网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32888" y="2167128"/>
            <a:ext cx="237744" cy="237744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女性社区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小红书/豆瓣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44568" y="3995928"/>
            <a:ext cx="237744" cy="237744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传统法律援助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4526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妇联/援助中心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38928" y="1755648"/>
            <a:ext cx="329184" cy="329184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26" name="Shape 24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rgbClr val="9370DB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2331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本作品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唯一占据"专业 + 温度"双高象限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1920240"/>
            <a:ext cx="1417320" cy="137160"/>
          </a:xfrm>
          <a:prstGeom prst="line">
            <a:avLst/>
          </a:prstGeom>
          <a:noFill/>
          <a:ln w="12700">
            <a:solidFill>
              <a:srgbClr val="9370D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我们既能判断,也能陪伴;既给答案,也给支撑。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六大智能体矩阵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一句话承诺 · 一一对应五层困境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103120"/>
            <a:ext cx="1828800" cy="1828800"/>
          </a:xfrm>
          <a:prstGeom prst="ellipse">
            <a:avLst/>
          </a:prstGeom>
          <a:solidFill>
            <a:srgbClr val="B8A9E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886200" y="2331720"/>
            <a:ext cx="1371600" cy="1371600"/>
          </a:xfrm>
          <a:prstGeom prst="ellipse">
            <a:avLst/>
          </a:prstGeom>
          <a:solidFill>
            <a:srgbClr val="7B5DC4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她盾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8620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SHE · SHIELD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0" cy="-219456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383280" y="34290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342900"/>
            <a:ext cx="45720" cy="960120"/>
          </a:xfrm>
          <a:prstGeom prst="rect">
            <a:avLst/>
          </a:prstGeom>
          <a:solidFill>
            <a:srgbClr val="7B5D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41605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4160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11296" y="4160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她眼·言行雷达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11296" y="7269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"一句话告诉我,这事违法吗?"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017520"/>
            <a:ext cx="1900545" cy="-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283825" y="144018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83825" y="1440180"/>
            <a:ext cx="45720" cy="96012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23" name="Shape 21"/>
          <p:cNvSpPr/>
          <p:nvPr/>
        </p:nvSpPr>
        <p:spPr>
          <a:xfrm>
            <a:off x="7066905" y="151333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066905" y="15133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11841" y="15133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她权·权益指南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1841" y="18242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"我现在有哪些权利?"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01752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283825" y="363474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83825" y="3634740"/>
            <a:ext cx="45720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066905" y="370789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066905" y="37078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11841" y="37078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她证·证据保全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1841" y="40187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"这些证据怎么留住才有效?"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017520"/>
            <a:ext cx="0" cy="219456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383280" y="473202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83280" y="4732020"/>
            <a:ext cx="45720" cy="96012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37" name="Shape 35"/>
          <p:cNvSpPr/>
          <p:nvPr/>
        </p:nvSpPr>
        <p:spPr>
          <a:xfrm>
            <a:off x="5166360" y="480517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48051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11296" y="48051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她行·维权导航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11296" y="51160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"下一步我该做什么?"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017520"/>
            <a:ext cx="-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482735" y="363474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482735" y="3634740"/>
            <a:ext cx="45720" cy="960120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44" name="Shape 42"/>
          <p:cNvSpPr/>
          <p:nvPr/>
        </p:nvSpPr>
        <p:spPr>
          <a:xfrm>
            <a:off x="3265815" y="370789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265815" y="37078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10751" y="37078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她心·情绪树洞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610751" y="40187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"今晚我想找个人说说话。"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3017520"/>
            <a:ext cx="-1900545" cy="-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482735" y="144018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482735" y="1440180"/>
            <a:ext cx="45720" cy="96012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51" name="Shape 49"/>
          <p:cNvSpPr/>
          <p:nvPr/>
        </p:nvSpPr>
        <p:spPr>
          <a:xfrm>
            <a:off x="3265815" y="151333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265815" y="15133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归属层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610751" y="15133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她声·共鸣回响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610751" y="18242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"原来不只我一个人这样。"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端到端技术架构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从前端到 AI 到法律知识源,得理 API 在哪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A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1920240" cy="73152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前端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Pages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HTML5 + Vanilla 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920240"/>
            <a:ext cx="1920240" cy="73152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CloudBase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代理 + 缓存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密钥下沉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同问同答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920240"/>
            <a:ext cx="1920240" cy="73152"/>
          </a:xfrm>
          <a:prstGeom prst="rect">
            <a:avLst/>
          </a:prstGeom>
          <a:solidFill>
            <a:srgbClr val="7B5DC4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腾讯元器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 大智能体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要件式判定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1920240"/>
            <a:ext cx="1920240" cy="1280160"/>
          </a:xfrm>
          <a:prstGeom prst="rect">
            <a:avLst/>
          </a:prstGeom>
          <a:solidFill>
            <a:srgbClr val="F5F0FF"/>
          </a:solidFill>
          <a:ln w="31750">
            <a:solidFill>
              <a:srgbClr val="E8B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920240"/>
            <a:ext cx="1920240" cy="73152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得理开放平台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法规检索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类案匹配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691640"/>
            <a:ext cx="320040" cy="320040"/>
          </a:xfrm>
          <a:prstGeom prst="ellipse">
            <a:avLst/>
          </a:prstGeom>
          <a:solidFill>
            <a:srgbClr val="E8B4B8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402336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11880"/>
            <a:ext cx="45720" cy="100584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通用大模型(如 ChatGPT)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3950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可能伪造案号 / 编造法条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黑盒判定,不可追溯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611880"/>
            <a:ext cx="4023360" cy="1005840"/>
          </a:xfrm>
          <a:prstGeom prst="rect">
            <a:avLst/>
          </a:prstGeom>
          <a:solidFill>
            <a:srgbClr val="F5F0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611880"/>
            <a:ext cx="45720" cy="100584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得理 API + 工作流编排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950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真实判例锚定 — 可查裁判文书网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代码节点确定性映射 — 同问同答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言行雷达 — 工作流深度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为什么"同问同答":等级由规则裁定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1307592"/>
            <a:ext cx="7717536" cy="2734056"/>
          </a:xfrm>
          <a:prstGeom prst="rect">
            <a:avLst/>
          </a:prstGeom>
          <a:solidFill>
            <a:srgbClr val="FFFFFF"/>
          </a:solidFill>
          <a:ln w="15240">
            <a:solidFill>
              <a:srgbClr val="9370DB"/>
            </a:solidFill>
            <a:prstDash val="solid"/>
          </a:ln>
        </p:spPr>
      </p:sp>
      <p:pic>
        <p:nvPicPr>
          <p:cNvPr id="10" name="Image 0" descr="D:\tad-sheild\images\言行雷达工作流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680960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0" y="14173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9370DB">
              <a:alpha val="8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417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✦ 元器真实编排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以"HR 问我打算什么时候生孩子" 为例 →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涉及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38912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门控放行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048256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21408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要素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121408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[婚育询问]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30752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03904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检索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03904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妇权法43条+严女士案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13248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0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要件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86400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3要件满足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095744" y="4434840"/>
            <a:ext cx="1636776" cy="365760"/>
          </a:xfrm>
          <a:prstGeom prst="rect">
            <a:avLst/>
          </a:prstGeom>
          <a:solidFill>
            <a:srgbClr val="FFF1E7"/>
          </a:solidFill>
          <a:ln w="6350">
            <a:solidFill>
              <a:srgbClr val="F7680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68896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映射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168896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🟠 中危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可解释的风险分级 + 反误判机制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规则透明 · 用户最终发言权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4389120" cy="5029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17320"/>
            <a:ext cx="64008" cy="50292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17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4173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高危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 + 实质后果/制度性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389120" cy="50292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1965960"/>
            <a:ext cx="64008" cy="502920"/>
          </a:xfrm>
          <a:prstGeom prst="rect">
            <a:avLst/>
          </a:prstGeom>
          <a:solidFill>
            <a:srgbClr val="F7680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965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1965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680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中危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关键要件满足或存在存疑项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4389120" cy="502920"/>
          </a:xfrm>
          <a:prstGeom prst="rect">
            <a:avLst/>
          </a:prstGeom>
          <a:solidFill>
            <a:srgbClr val="FFF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514600"/>
            <a:ext cx="64008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146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2514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低危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关键要件满足但其余多缺失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4389120" cy="502920"/>
          </a:xfrm>
          <a:prstGeom prst="rect">
            <a:avLst/>
          </a:prstGeom>
          <a:solidFill>
            <a:srgbClr val="E9F7EF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063240"/>
            <a:ext cx="64008" cy="502920"/>
          </a:xfrm>
          <a:prstGeom prst="rect">
            <a:avLst/>
          </a:prstGeom>
          <a:solidFill>
            <a:srgbClr val="30A46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063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30632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无风险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关键要件均不满足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417320"/>
            <a:ext cx="3749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417320"/>
            <a:ext cx="45720" cy="2697480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31" name="Shape 29"/>
          <p:cNvSpPr/>
          <p:nvPr/>
        </p:nvSpPr>
        <p:spPr>
          <a:xfrm>
            <a:off x="5166360" y="1527048"/>
            <a:ext cx="329184" cy="32918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370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508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↻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反误判机制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6360" y="1874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被门控判"不涉及"时,用户可一键触发深度分析,跳过门控直接进入要件式评估。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26974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9370DB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🔍 强制深度分析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即使算法犯错,用户也有发言权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召回优先 · 存疑往上判 · 用户可推翻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标准化双层评测体系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事实层标注 + 代码机械映射 · 50 精标 + 50 变体 · 17 条挂真实判例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条精标分类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骚扰-高危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75688"/>
            <a:ext cx="4114800" cy="25603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75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骚扰-中危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075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骚扰-低危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3682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4114800" cy="25603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60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歧视-高危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609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53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歧视-中危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9535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4114800" cy="25603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歧视-低危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538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无关-无风险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35387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条变体策略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78308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同义改写 paraphrase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1783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测语言鲁棒性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9456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19456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细节扰动 perturb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26680" y="2194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测是否过拟合表面词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6060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60604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干扰句 distract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2668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测聚焦能力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01752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1752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要件边界 boundary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2668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 risk_level,测规则贴合度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42900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42900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长文本扩展 verbose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26680" y="3429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测自然篇幅稳定性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锚点分布:  </a:t>
            </a:r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条真实判例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(含案号/法院/年份)  · </a:t>
            </a:r>
            <a:pPr algn="ct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条法条明文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· </a:t>
            </a:r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 条规则派生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(低危/无关)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准确率仪表盘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79% 整体 · 90% 高危召回 · 100% 无风险 · 96% ±1 级容忍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整体准确率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691640"/>
          <a:ext cx="33832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31520" y="2194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79%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73152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严格匹配 · n=100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200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95% CI: 71.0% – 87.0%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520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各等级召回率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🔴 高危召回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94560" y="37673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90.0%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246120" y="37673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(45/50)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39867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🟠 中危召回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194560" y="39867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47.4%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246120" y="39867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(9/19)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🟡 低危召回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194560" y="4206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60.0%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246120" y="4206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(9/15)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65760" y="44256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🟢 无风险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194560" y="4425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A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100.0%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246120" y="4425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(16/16)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0" y="1417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混淆矩阵 (行=期望 / 列=实际)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617720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17720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367528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67528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17336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17336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中危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867144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7144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低危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616952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16952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17720" y="2103120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17720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367528" y="2103120"/>
            <a:ext cx="749808" cy="384048"/>
          </a:xfrm>
          <a:prstGeom prst="rect">
            <a:avLst/>
          </a:prstGeom>
          <a:solidFill>
            <a:srgbClr val="FDECEC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67528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117336" y="2103120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17336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6867144" y="2103120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67144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7616952" y="2103120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16952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4617720" y="2487168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17720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中危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367528" y="2487168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367528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50" dirty="0"/>
          </a:p>
        </p:txBody>
      </p:sp>
      <p:sp>
        <p:nvSpPr>
          <p:cNvPr id="52" name="Shape 49"/>
          <p:cNvSpPr/>
          <p:nvPr/>
        </p:nvSpPr>
        <p:spPr>
          <a:xfrm>
            <a:off x="6117336" y="2487168"/>
            <a:ext cx="749808" cy="384048"/>
          </a:xfrm>
          <a:prstGeom prst="rect">
            <a:avLst/>
          </a:prstGeom>
          <a:solidFill>
            <a:srgbClr val="FFF1E7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117336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50" dirty="0"/>
          </a:p>
        </p:txBody>
      </p:sp>
      <p:sp>
        <p:nvSpPr>
          <p:cNvPr id="54" name="Shape 51"/>
          <p:cNvSpPr/>
          <p:nvPr/>
        </p:nvSpPr>
        <p:spPr>
          <a:xfrm>
            <a:off x="6867144" y="2487168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67144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7616952" y="2487168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616952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4617720" y="2871216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617720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低危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367528" y="2871216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367528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62" name="Shape 59"/>
          <p:cNvSpPr/>
          <p:nvPr/>
        </p:nvSpPr>
        <p:spPr>
          <a:xfrm>
            <a:off x="6117336" y="2871216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117336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50" dirty="0"/>
          </a:p>
        </p:txBody>
      </p:sp>
      <p:sp>
        <p:nvSpPr>
          <p:cNvPr id="64" name="Shape 61"/>
          <p:cNvSpPr/>
          <p:nvPr/>
        </p:nvSpPr>
        <p:spPr>
          <a:xfrm>
            <a:off x="6867144" y="2871216"/>
            <a:ext cx="749808" cy="384048"/>
          </a:xfrm>
          <a:prstGeom prst="rect">
            <a:avLst/>
          </a:prstGeom>
          <a:solidFill>
            <a:srgbClr val="FFF8E6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867144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50" dirty="0"/>
          </a:p>
        </p:txBody>
      </p:sp>
      <p:sp>
        <p:nvSpPr>
          <p:cNvPr id="66" name="Shape 63"/>
          <p:cNvSpPr/>
          <p:nvPr/>
        </p:nvSpPr>
        <p:spPr>
          <a:xfrm>
            <a:off x="7616952" y="2871216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616952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68" name="Shape 65"/>
          <p:cNvSpPr/>
          <p:nvPr/>
        </p:nvSpPr>
        <p:spPr>
          <a:xfrm>
            <a:off x="4617720" y="3255264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617720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5367528" y="3255264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367528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72" name="Shape 69"/>
          <p:cNvSpPr/>
          <p:nvPr/>
        </p:nvSpPr>
        <p:spPr>
          <a:xfrm>
            <a:off x="6117336" y="3255264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17336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74" name="Shape 71"/>
          <p:cNvSpPr/>
          <p:nvPr/>
        </p:nvSpPr>
        <p:spPr>
          <a:xfrm>
            <a:off x="6867144" y="3255264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867144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76" name="Shape 73"/>
          <p:cNvSpPr/>
          <p:nvPr/>
        </p:nvSpPr>
        <p:spPr>
          <a:xfrm>
            <a:off x="7616952" y="3255264"/>
            <a:ext cx="749808" cy="384048"/>
          </a:xfrm>
          <a:prstGeom prst="rect">
            <a:avLst/>
          </a:prstGeom>
          <a:solidFill>
            <a:srgbClr val="E9F7E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616952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0A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250" dirty="0"/>
          </a:p>
        </p:txBody>
      </p:sp>
      <p:sp>
        <p:nvSpPr>
          <p:cNvPr id="78" name="Text 75"/>
          <p:cNvSpPr/>
          <p:nvPr/>
        </p:nvSpPr>
        <p:spPr>
          <a:xfrm>
            <a:off x="4572000" y="380390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误差严重度分布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4572000" y="4078224"/>
            <a:ext cx="168250" cy="292608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80" name="Shape 77"/>
          <p:cNvSpPr/>
          <p:nvPr/>
        </p:nvSpPr>
        <p:spPr>
          <a:xfrm>
            <a:off x="4740250" y="4078224"/>
            <a:ext cx="420624" cy="292608"/>
          </a:xfrm>
          <a:prstGeom prst="rect">
            <a:avLst/>
          </a:prstGeom>
          <a:solidFill>
            <a:srgbClr val="F76808"/>
          </a:solidFill>
          <a:ln/>
        </p:spPr>
      </p:sp>
      <p:sp>
        <p:nvSpPr>
          <p:cNvPr id="81" name="Text 78"/>
          <p:cNvSpPr/>
          <p:nvPr/>
        </p:nvSpPr>
        <p:spPr>
          <a:xfrm>
            <a:off x="4740250" y="40782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 (10)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5160874" y="4078224"/>
            <a:ext cx="3322930" cy="292608"/>
          </a:xfrm>
          <a:prstGeom prst="rect">
            <a:avLst/>
          </a:prstGeom>
          <a:solidFill>
            <a:srgbClr val="30A46C"/>
          </a:solidFill>
          <a:ln/>
        </p:spPr>
      </p:sp>
      <p:sp>
        <p:nvSpPr>
          <p:cNvPr id="83" name="Text 80"/>
          <p:cNvSpPr/>
          <p:nvPr/>
        </p:nvSpPr>
        <p:spPr>
          <a:xfrm>
            <a:off x="5160874" y="4078224"/>
            <a:ext cx="3322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(79)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8483803" y="4078224"/>
            <a:ext cx="294437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5" name="Text 82"/>
          <p:cNvSpPr/>
          <p:nvPr/>
        </p:nvSpPr>
        <p:spPr>
          <a:xfrm>
            <a:off x="4572000" y="44165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±1 级容忍准确率: 96.0%(严重漏判 4 条 · 0 条完全相反 · 标准答案与产品走同一份代码)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现场演示 · 言行雷达运行实录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用户输入 → 工作流逐节点跑 → 红橙绿报告卡同屏呈现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 输入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417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"面试时 HR 问我打算什么时候结婚生孩子"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146304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7680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⏱ ~50s 深度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4937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02920" y="2103120"/>
            <a:ext cx="4663440" cy="2560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657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📹 网页端真实运行录屏(演示模式可播放)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201168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0" y="2011680"/>
            <a:ext cx="45720" cy="274320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报告同屏呈现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0" y="24231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🟠 风险标 + 一句话总结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💬 温暖叙事(法律解释)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 三档话术(委婉/坚定/正式)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⚖️ 妇权法 43 条 + 得理徽标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📁 严女士案 + 案号 + 法院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🔍 折叠"判定依据"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她权·权益指南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场景化权利清单 · 卡片网格 · 法条蓝色高亮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 用户输入示例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"在职怀孕女性受到哪些法律保护"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4937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⚖️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演示视频待录制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(网页端真实操作录屏)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📹 网页端真实操作录屏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201168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011680"/>
            <a:ext cx="45720" cy="274320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权益指南输出亮点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8 类场景标签自动识别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🃏 权利卡片网格(序号+权利名+引用)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💎 法律名 + 条款号 + 原文 三级蓝高亮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🌸 暖黄温馨提示独立卡片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🔄 重试按钮(跳过缓存,治"同问同答")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937760"/>
            <a:ext cx="8412480" cy="41148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956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🏷️  核心标签:  </a:t>
            </a:r>
            <a:pPr indent="0" marL="0">
              <a:buNone/>
            </a:pPr>
            <a:r>
              <a:rPr lang="en-US" sz="1000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场景识别  ·  卡片网格  ·  法条高亮  ·  重试机制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她证·证据保全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浏览器端 SHA-256 指纹 · 存证凭证 · 取证 Checklist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 用户输入示例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"怀孕被调岗,如何留证据?"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4937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🔐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演示视频待录制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(网页端真实操作录屏)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📹 网页端真实操作录屏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201168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011680"/>
            <a:ext cx="45720" cy="274320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证据保全输出亮点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🔐 Web Crypto SHA-256 浏览器端计算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📄 自动生成《存证凭证》可下载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🛡️ 原文件不上传,只存哈希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☑️ 取证 Checklist + 完成度进度条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📚 6 大典型场景规则库(AI 自动分类)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🧪 防篡改演示:同文件验证哈希一致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937760"/>
            <a:ext cx="8412480" cy="41148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956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🏷️  核心标签:  </a:t>
            </a:r>
            <a:pPr indent="0" marL="0">
              <a:buNone/>
            </a:pPr>
            <a:r>
              <a:rPr lang="en-US" sz="1000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SHA-256  ·  存证凭证  ·  防篡改  ·  6 大场景  ·  Checklist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她行·维权导航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竖直时间轴 · 6 步阶梯路径 · 热线一键拨号 · 时效胶囊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 用户输入示例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"怀孕被降薪,我该怎么维权?"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4937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🧭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演示视频待录制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(网页端真实操作录屏)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📹 网页端真实操作录屏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201168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011680"/>
            <a:ext cx="45720" cy="274320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维权导航输出亮点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📏 竖直时间轴 6 步(紫色数字徽标 + 渐变竖线)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📞 热线胶囊:12333/12338/12348/12388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⏰ 时效字眼橙色高亮:1 年 / 15 日 / 3 年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📦 时效尾段独立暖橙卡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🔁 配合/不配合两种分支建议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🔄 重试按钮跳过缓存重新规划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937760"/>
            <a:ext cx="8412480" cy="41148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956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🏷️  核心标签:  </a:t>
            </a:r>
            <a:pPr indent="0" marL="0">
              <a:buNone/>
            </a:pPr>
            <a:r>
              <a:rPr lang="en-US" sz="1000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竖直时间轴  ·  热线胶囊  ·  时效高亮  ·  6 步路径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她心·情绪树洞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危机干预强制弹窗 · CBT 轻度支持 · 浏览器语音引导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 用户输入示例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"我感觉是我太敏感了 / 我活不下去了"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4937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💖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演示视频待录制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(网页端真实操作录屏)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📹 网页端真实操作录屏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201168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011680"/>
            <a:ext cx="45720" cy="274320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情绪树洞输出亮点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🚨 危机干预模态弹窗(不可被覆盖)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☎️ 自动弹出 400-161-9995 心理援助热线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🧠 CBT 轻度支持:认知偏差温和重塑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🔊 SpeechSynthesis 浏览器原生语音引导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🚫 禁止"正能量化",允许低落存在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🫂 三步结构:承认 → 正常化 → 陪伴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937760"/>
            <a:ext cx="8412480" cy="41148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956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🏷️  核心标签:  </a:t>
            </a:r>
            <a:pPr indent="0" marL="0">
              <a:buNone/>
            </a:pPr>
            <a:r>
              <a:rPr lang="en-US" sz="1000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危机干预  ·  CBT  ·  语音引导  ·  不评判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她声·共鸣回响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匿名故事社区 · 三类敏感信息自动脱敏 · CloudBase 持久化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 用户输入示例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浏览或投稿:"我也曾遭遇..."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4937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🌸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演示视频待录制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(网页端真实操作录屏)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📹 网页端真实操作录屏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201168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011680"/>
            <a:ext cx="45720" cy="274320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共鸣回响输出亮点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🎭 匿名化保护,无注册无登录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🔒 三类敏感信息自动脱敏:手机号 / 身份证 / 邮箱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🏷️ 主题标签筛选(性别歧视 / 性骚扰 / 孕产 ...)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📁 CloudBase 云数据库千万级文档容量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💾 localStorage 本地浏览缓存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📚 内容均改编自真实判例 + 新闻(脱敏)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937760"/>
            <a:ext cx="8412480" cy="41148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956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🏷️  核心标签:  </a:t>
            </a:r>
            <a:pPr indent="0" marL="0">
              <a:buNone/>
            </a:pPr>
            <a:r>
              <a:rPr lang="en-US" sz="1000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匿名社区  ·  三类脱敏  ·  标签筛选  ·  真实判例改编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社会价值 · 降低三道门槛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让每一个"本该沉默的瞬间",都有回应的能力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201168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心理门槛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情绪承接 + 共鸣社区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让用户不再孤单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2011680"/>
          </a:xfrm>
          <a:prstGeom prst="rect">
            <a:avLst/>
          </a:prstGeom>
          <a:solidFill>
            <a:srgbClr val="7B5DC4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信息门槛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法条白话 + 权利清单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让用户看清规则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2011680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🔧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技术门槛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操作级取证指导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让用户会取证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让更多女性 </a:t>
            </a:r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从</a:t>
            </a:r>
            <a:pPr algn="ctr" indent="0" marL="0">
              <a:buNone/>
            </a:pPr>
            <a:r>
              <a:rPr lang="en-US" sz="2000" i="1" dirty="0">
                <a:solidFill>
                  <a:srgbClr val="99999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"算了吧"</a:t>
            </a:r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 →  </a:t>
            </a:r>
            <a:pPr algn="ctr" indent="0" marL="0">
              <a:buNone/>
            </a:pPr>
            <a:r>
              <a:rPr lang="en-US" sz="2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"我知道该怎么做了"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— 技术是理性的,但使用技术的人是有温度的。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致谢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感谢一路给力的人、平台与判例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🛠 工具与平台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腾讯元器 — 5 大智能体编排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得理开放平台 — 法规与类案 API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CloudBase — 后端代理与社区存储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 — 辅助开发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⚖️ 判例与机构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最高人民法院典型案例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各级人民法院判决书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检察机关发布典型案件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全国妇联 / 人社部相关数据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30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🌸 她说了算队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TODO: 成员姓名 1 · 成员 2 · 成员 3(角色/分工)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GitHub: github.com/Huangjwwen/her_shield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3749040"/>
            <a:ext cx="868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9370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749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扫码看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4069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仓库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42976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TODO: 二维码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B5D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9370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E8B4B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spc="2400" kern="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Q &amp; A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期待您的提问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 · 她盾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她盾 答辩 PPT</dc:title>
  <dc:subject>职场女性权益守护智能体</dc:subject>
  <dc:creator>她说了算队</dc:creator>
  <cp:lastModifiedBy>她说了算队</cp:lastModifiedBy>
  <cp:revision>1</cp:revision>
  <dcterms:created xsi:type="dcterms:W3CDTF">2026-06-04T04:05:46Z</dcterms:created>
  <dcterms:modified xsi:type="dcterms:W3CDTF">2026-06-04T04:05:46Z</dcterms:modified>
</cp:coreProperties>
</file>