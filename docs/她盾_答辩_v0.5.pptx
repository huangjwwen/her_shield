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370DB"/>
              </a:solidFill>
              <a:effectLst/>
            </c:spPr>
          </c:dPt>
          <c:dPt>
            <c:idx val="1"/>
            <c:bubble3D val="0"/>
            <c:spPr>
              <a:solidFill>
                <a:srgbClr val="EAE3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判对(79)</c:v>
                </c:pt>
                <c:pt idx="1">
                  <c:v>判错(21)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DFBFB"/>
    </a:solidFill>
    <a:ln w="12700" cap="flat">
      <a:solidFill>
        <a:srgbClr val="FDFBF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E8B4B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926080"/>
            <a:ext cx="5029200" cy="5029200"/>
          </a:xfrm>
          <a:prstGeom prst="ellipse">
            <a:avLst/>
          </a:prstGeom>
          <a:solidFill>
            <a:srgbClr val="B8A9E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347472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7620">
            <a:solidFill>
              <a:srgbClr val="9370D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520440" cy="3520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6" name="Image 0" descr="D:\tad-sheild\her_shiel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32461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 · SHIELD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60520" y="1325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她盾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16052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职场女性权益守护智能体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3383280"/>
            <a:ext cx="640080" cy="0"/>
          </a:xfrm>
          <a:prstGeom prst="line">
            <a:avLst/>
          </a:prstGeom>
          <a:noFill/>
          <a:ln w="44450">
            <a:solidFill>
              <a:srgbClr val="E8B4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"你的身后,站着一个懂法更懂你的「她」"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B8A9E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 · 她说了算队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第十七届中国大学生服务外包大赛 · 腾讯开悟全球 AI 公开赛 D06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4736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CCC8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B8A9E0"/>
          </a:solidFill>
          <a:ln/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7B5DC4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法律深度 × 情感支持 — 她盾占据独家象限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2560320" cy="1508760"/>
          </a:xfrm>
          <a:prstGeom prst="rect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2926080"/>
            <a:ext cx="51206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417320"/>
            <a:ext cx="0" cy="30175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法律专业深度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情感支持 / 低门槛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67528" y="363016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通用法律咨询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160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律图/找法网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16712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女性社区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小红书/豆瓣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44568" y="399592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传统法律援助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526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妇联/援助中心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38928" y="1755648"/>
            <a:ext cx="329184" cy="329184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9370DB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本作品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唯一占据"专业 + 温度"双高象限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920240"/>
            <a:ext cx="1417320" cy="137160"/>
          </a:xfrm>
          <a:prstGeom prst="line">
            <a:avLst/>
          </a:prstGeom>
          <a:noFill/>
          <a:ln w="12700">
            <a:solidFill>
              <a:srgbClr val="9370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我们既能判断,也能陪伴;既给答案,也给支撑。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一句话承诺 · 一一对应五层困境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B8A9E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7B5DC4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她盾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8620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 · SHIELD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0" cy="-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83280" y="3429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342900"/>
            <a:ext cx="45720" cy="960120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41605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4160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1296" y="4160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她眼·言行雷达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1296" y="7269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"一句话告诉我,这事违法吗?"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1900545" cy="-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28382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83825" y="1440180"/>
            <a:ext cx="45720" cy="96012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23" name="Shape 21"/>
          <p:cNvSpPr/>
          <p:nvPr/>
        </p:nvSpPr>
        <p:spPr>
          <a:xfrm>
            <a:off x="706690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066905" y="15133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1841" y="15133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她权·权益指南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1841" y="18242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"我现在有哪些权利?"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28382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83825" y="3634740"/>
            <a:ext cx="4572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06690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66905" y="37078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11841" y="37078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她证·证据保全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1841" y="40187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"这些证据怎么留住才有效?"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01752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383280" y="473202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4732020"/>
            <a:ext cx="45720" cy="96012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7" name="Shape 35"/>
          <p:cNvSpPr/>
          <p:nvPr/>
        </p:nvSpPr>
        <p:spPr>
          <a:xfrm>
            <a:off x="5166360" y="48051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48051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11296" y="48051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她行·维权导航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11296" y="51160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"下一步我该做什么?"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017520"/>
            <a:ext cx="-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48273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82735" y="3634740"/>
            <a:ext cx="45720" cy="96012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44" name="Shape 42"/>
          <p:cNvSpPr/>
          <p:nvPr/>
        </p:nvSpPr>
        <p:spPr>
          <a:xfrm>
            <a:off x="326581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265815" y="37078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10751" y="37078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她心·情绪树洞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10751" y="40187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"今晚我想找个人说说话。"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3017520"/>
            <a:ext cx="-1900545" cy="-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48273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82735" y="1440180"/>
            <a:ext cx="45720" cy="96012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51" name="Shape 49"/>
          <p:cNvSpPr/>
          <p:nvPr/>
        </p:nvSpPr>
        <p:spPr>
          <a:xfrm>
            <a:off x="326581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265815" y="15133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610751" y="15133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她声·共鸣回响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610751" y="18242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"原来不只我一个人这样。"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CloudBase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密钥下沉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腾讯元器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法规检索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11880"/>
            <a:ext cx="45720" cy="100584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通用大模型(如 ChatGPT)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可能伪造案号 / 编造法条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黑盒判定,不可追溯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F5F0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11880"/>
            <a:ext cx="45720" cy="100584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得理 API + 工作流编排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真实判例锚定 — 可查裁判文书网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代码节点确定性映射 — 同问同答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1307592"/>
            <a:ext cx="7717536" cy="2734056"/>
          </a:xfrm>
          <a:prstGeom prst="rect">
            <a:avLst/>
          </a:prstGeom>
          <a:solidFill>
            <a:srgbClr val="FFFFFF"/>
          </a:solidFill>
          <a:ln w="15240">
            <a:solidFill>
              <a:srgbClr val="9370DB"/>
            </a:solidFill>
            <a:prstDash val="solid"/>
          </a:ln>
        </p:spPr>
      </p:sp>
      <p:pic>
        <p:nvPicPr>
          <p:cNvPr id="10" name="Image 0" descr="D:\tad-sheild\images\workf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68096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0" y="1417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370DB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417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✦ 元器真实编排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以"HR 问我打算什么时候生孩子" 为例 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涉及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8912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门控放行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48256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21408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要素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21408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[婚育询问]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30752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检索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03904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妇权法43条+严女士案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13248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0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要件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0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3要件满足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95744" y="4434840"/>
            <a:ext cx="1636776" cy="365760"/>
          </a:xfrm>
          <a:prstGeom prst="rect">
            <a:avLst/>
          </a:prstGeom>
          <a:solidFill>
            <a:srgbClr val="FFF1E7"/>
          </a:solidFill>
          <a:ln w="6350">
            <a:solidFill>
              <a:srgbClr val="F768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68896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映射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168896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中危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1527048"/>
            <a:ext cx="329184" cy="32918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70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反误判机制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 条测试集 · 方法学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锚点分布:  </a:t>
            </a:r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条真实判例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(含案号/法院/年份)  · </a:t>
            </a:r>
            <a:pPr algn="ct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条法条明文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</a:t>
            </a:r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条规则派生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准确率数据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100 条要件级标注 + 代码机械映射的测试集上实测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整体准确率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69164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2194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79%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73152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严格匹配 · n=100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95% CI: 71.0% – 87.0%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520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各等级召回率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🔴 高危召回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3767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90.0%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246120" y="3767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(45/50)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3986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中危召回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3986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47.4%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46120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(9/19)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🟡 低危召回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194560" y="4206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60.0%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246120" y="4206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(9/15)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5760" y="4425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🟢 无风险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194560" y="4425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A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100.0%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246120" y="4425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(16/16)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0" y="1417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混淆矩阵 (行=期望 / 列=实际)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17720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367528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67528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17336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17336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67144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144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低危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16952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16952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17720" y="2103120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17720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367528" y="2103120"/>
            <a:ext cx="749808" cy="384048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67528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117336" y="2103120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17336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867144" y="2103120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67144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616952" y="2103120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16952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617720" y="2487168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中危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367528" y="2487168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367528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6117336" y="2487168"/>
            <a:ext cx="749808" cy="384048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17336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6867144" y="2487168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67144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616952" y="2487168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616952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4617720" y="2871216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17720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低危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367528" y="2871216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367528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62" name="Shape 59"/>
          <p:cNvSpPr/>
          <p:nvPr/>
        </p:nvSpPr>
        <p:spPr>
          <a:xfrm>
            <a:off x="6117336" y="2871216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117336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50" dirty="0"/>
          </a:p>
        </p:txBody>
      </p:sp>
      <p:sp>
        <p:nvSpPr>
          <p:cNvPr id="64" name="Shape 61"/>
          <p:cNvSpPr/>
          <p:nvPr/>
        </p:nvSpPr>
        <p:spPr>
          <a:xfrm>
            <a:off x="6867144" y="2871216"/>
            <a:ext cx="749808" cy="384048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67144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7616952" y="2871216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616952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4617720" y="3255264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617720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367528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367528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6117336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17336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6867144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67144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7616952" y="3255264"/>
            <a:ext cx="749808" cy="384048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616952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0A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50" dirty="0"/>
          </a:p>
        </p:txBody>
      </p:sp>
      <p:sp>
        <p:nvSpPr>
          <p:cNvPr id="78" name="Text 75"/>
          <p:cNvSpPr/>
          <p:nvPr/>
        </p:nvSpPr>
        <p:spPr>
          <a:xfrm>
            <a:off x="4572000" y="38039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误差严重度分布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572000" y="4078224"/>
            <a:ext cx="168250" cy="29260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80" name="Shape 77"/>
          <p:cNvSpPr/>
          <p:nvPr/>
        </p:nvSpPr>
        <p:spPr>
          <a:xfrm>
            <a:off x="4740250" y="4078224"/>
            <a:ext cx="420624" cy="292608"/>
          </a:xfrm>
          <a:prstGeom prst="rect">
            <a:avLst/>
          </a:prstGeom>
          <a:solidFill>
            <a:srgbClr val="F76808"/>
          </a:solidFill>
          <a:ln/>
        </p:spPr>
      </p:sp>
      <p:sp>
        <p:nvSpPr>
          <p:cNvPr id="81" name="Text 78"/>
          <p:cNvSpPr/>
          <p:nvPr/>
        </p:nvSpPr>
        <p:spPr>
          <a:xfrm>
            <a:off x="4740250" y="40782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 (10)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5160874" y="4078224"/>
            <a:ext cx="3322930" cy="292608"/>
          </a:xfrm>
          <a:prstGeom prst="rect">
            <a:avLst/>
          </a:prstGeom>
          <a:solidFill>
            <a:srgbClr val="30A46C"/>
          </a:solidFill>
          <a:ln/>
        </p:spPr>
      </p:sp>
      <p:sp>
        <p:nvSpPr>
          <p:cNvPr id="83" name="Text 80"/>
          <p:cNvSpPr/>
          <p:nvPr/>
        </p:nvSpPr>
        <p:spPr>
          <a:xfrm>
            <a:off x="5160874" y="4078224"/>
            <a:ext cx="3322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(79)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8483803" y="4078224"/>
            <a:ext cx="294437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5" name="Text 82"/>
          <p:cNvSpPr/>
          <p:nvPr/>
        </p:nvSpPr>
        <p:spPr>
          <a:xfrm>
            <a:off x="4572000" y="4416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±1 级容忍准确率: 96.0%(严重漏判 4 条 · 0 条完全相反 · 标准答案与产品走同一份代码)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现场演示 · 言行雷达运行实录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用户输入 → 节点逐一亮起 → 报告卡同屏呈现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输入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"面试时 HR 问我打算什么时候结婚生孩子"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7680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 5 秒返回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pic>
        <p:nvPicPr>
          <p:cNvPr id="15" name="Image 0" descr="D:\tad-sheild\images\言行雷达工作流运行动图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4572000" cy="24597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真实运行录屏(打开 PPT 演示模式自动播放)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报告同屏呈现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风险标 + 一句话总结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💬 温暖叙事(法律解释)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三档话术(委婉/坚定/正式)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妇权法 43 条 + 得理徽标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📁 严女士案 + 案号 + 法院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折叠"判定依据"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情绪承接 + 共鸣社区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法条白话 + 权利清单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操作级取证指导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让更多女性 </a:t>
            </a:r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</a:t>
            </a:r>
            <a:pPr algn="ctr" indent="0" marL="0">
              <a:buNone/>
            </a:pPr>
            <a:r>
              <a:rPr lang="en-US" sz="2000" i="1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"算了吧"</a:t>
            </a:r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🌸 她说了算队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TODO: 成员姓名 1 · 成员 2 · 成员 3(角色/分工)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GitHub: github.com/Huangjwwen/her_shield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扫码看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4069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仓库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TODO: 二维码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B5D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24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subject>职场女性权益守护智能体</dc:subject>
  <dc:creator>她说了算队</dc:creator>
  <cp:lastModifiedBy>她说了算队</cp:lastModifiedBy>
  <cp:revision>1</cp:revision>
  <dcterms:created xsi:type="dcterms:W3CDTF">2026-06-01T15:30:53Z</dcterms:created>
  <dcterms:modified xsi:type="dcterms:W3CDTF">2026-06-01T15:30:53Z</dcterms:modified>
</cp:coreProperties>
</file>