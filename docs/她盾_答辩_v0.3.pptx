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9370DB"/>
              </a:solidFill>
              <a:effectLst/>
            </c:spPr>
          </c:dPt>
          <c:dPt>
            <c:idx val="1"/>
            <c:bubble3D val="0"/>
            <c:spPr>
              <a:solidFill>
                <a:srgbClr val="EAE3F5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正确</c:v>
                </c:pt>
                <c:pt idx="1">
                  <c:v>错误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18cb11b-2056-43bd-aa2a-a7a2e5aeef9f}"/>
      </c:ext>
    </c:extLst>
  </c:chart>
  <c:spPr>
    <a:solidFill>
      <a:srgbClr val="FDFBFB"/>
    </a:solidFill>
    <a:ln w="12700" cap="flat">
      <a:solidFill>
        <a:srgbClr val="FDFBFB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E8B4B8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217920" y="2926080"/>
            <a:ext cx="5029200" cy="5029200"/>
          </a:xfrm>
          <a:prstGeom prst="ellipse">
            <a:avLst/>
          </a:prstGeom>
          <a:solidFill>
            <a:srgbClr val="B8A9E0">
              <a:alpha val="3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3291840" y="347472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7620">
            <a:solidFill>
              <a:srgbClr val="9370D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3520440" cy="3520440"/>
          </a:xfrm>
          <a:prstGeom prst="ellipse">
            <a:avLst/>
          </a:prstGeom>
          <a:solidFill>
            <a:srgbClr val="FFFFFF">
              <a:alpha val="70000"/>
            </a:srgbClr>
          </a:solidFill>
        </p:spPr>
      </p:sp>
      <p:pic>
        <p:nvPicPr>
          <p:cNvPr id="6" name="Image 0" descr="D:\tad-sheild\her_shield\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324612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60520" y="960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SHE · SHIELD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60520" y="132588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她盾</a:t>
            </a:r>
            <a:endParaRPr lang="en-US" sz="11000" dirty="0"/>
          </a:p>
        </p:txBody>
      </p:sp>
      <p:sp>
        <p:nvSpPr>
          <p:cNvPr id="9" name="Text 6"/>
          <p:cNvSpPr/>
          <p:nvPr/>
        </p:nvSpPr>
        <p:spPr>
          <a:xfrm>
            <a:off x="4160520" y="27889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职场女性权益守护智能体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60520" y="3383280"/>
            <a:ext cx="640080" cy="0"/>
          </a:xfrm>
          <a:prstGeom prst="line">
            <a:avLst/>
          </a:prstGeom>
          <a:noFill/>
          <a:ln w="44450">
            <a:solidFill>
              <a:srgbClr val="E8B4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35204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"你的身后,站着一个懂法更懂你的「她」"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6350">
            <a:solidFill>
              <a:srgbClr val="B8A9E0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4805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 · 她说了算队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0" y="44805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第十七届中国大学生服务外包大赛 · 腾讯开悟全球 AI 公开赛 D06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0" y="4736592"/>
            <a:ext cx="44805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一条断裂的链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在每一个被沉默的瞬间,究竟卡在哪一环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50292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60.9%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求职女性被询问婚育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智联招聘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&lt; 30%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职场性别歧视案胜诉率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中国裁判文书网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1" name="Text 19"/>
          <p:cNvSpPr/>
          <p:nvPr/>
        </p:nvSpPr>
        <p:spPr>
          <a:xfrm>
            <a:off x="617220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7%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性骚扰受害者选择报警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全国妇联统计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063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五层用户困境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640080" cy="640080"/>
          </a:xfrm>
          <a:prstGeom prst="ellipse">
            <a:avLst/>
          </a:prstGeom>
          <a:solidFill>
            <a:srgbClr val="CCC8D8"/>
          </a:solidFill>
        </p:spPr>
      </p:sp>
      <p:sp>
        <p:nvSpPr>
          <p:cNvPr id="26" name="Text 24"/>
          <p:cNvSpPr/>
          <p:nvPr/>
        </p:nvSpPr>
        <p:spPr>
          <a:xfrm>
            <a:off x="36576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不知违法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57400" y="3520440"/>
            <a:ext cx="640080" cy="640080"/>
          </a:xfrm>
          <a:prstGeom prst="ellipse">
            <a:avLst/>
          </a:prstGeom>
          <a:solidFill>
            <a:srgbClr val="B8A9E0"/>
          </a:solidFill>
        </p:spPr>
      </p:sp>
      <p:sp>
        <p:nvSpPr>
          <p:cNvPr id="30" name="Text 28"/>
          <p:cNvSpPr/>
          <p:nvPr/>
        </p:nvSpPr>
        <p:spPr>
          <a:xfrm>
            <a:off x="205740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4320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不知找谁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34" name="Text 32"/>
          <p:cNvSpPr/>
          <p:nvPr/>
        </p:nvSpPr>
        <p:spPr>
          <a:xfrm>
            <a:off x="374904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3484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不会取证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3520440"/>
            <a:ext cx="640080" cy="640080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8" name="Text 36"/>
          <p:cNvSpPr/>
          <p:nvPr/>
        </p:nvSpPr>
        <p:spPr>
          <a:xfrm>
            <a:off x="544068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不敢维权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3520440"/>
            <a:ext cx="640080" cy="640080"/>
          </a:xfrm>
          <a:prstGeom prst="ellipse">
            <a:avLst/>
          </a:prstGeom>
          <a:solidFill>
            <a:srgbClr val="7B5DC4"/>
          </a:solidFill>
        </p:spPr>
      </p:sp>
      <p:sp>
        <p:nvSpPr>
          <p:cNvPr id="42" name="Text 40"/>
          <p:cNvSpPr/>
          <p:nvPr/>
        </p:nvSpPr>
        <p:spPr>
          <a:xfrm>
            <a:off x="713232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81812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归属层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1812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孤立无援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我们要做的,是把这条断裂链重新接上。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差异化定位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法律深度 × 情感支持 — 她盾占据独家象限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2560320" cy="1508760"/>
          </a:xfrm>
          <a:prstGeom prst="rect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554480" y="2926080"/>
            <a:ext cx="51206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417320"/>
            <a:ext cx="0" cy="30175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7889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234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27889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法律专业深度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097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情感支持 / 低门槛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67528" y="3630168"/>
            <a:ext cx="237744" cy="237744"/>
          </a:xfrm>
          <a:prstGeom prst="ellipse">
            <a:avLst/>
          </a:prstGeom>
          <a:solidFill>
            <a:srgbClr val="B0B0B0"/>
          </a:solidFill>
        </p:spPr>
      </p:sp>
      <p:sp>
        <p:nvSpPr>
          <p:cNvPr id="17" name="Text 15"/>
          <p:cNvSpPr/>
          <p:nvPr/>
        </p:nvSpPr>
        <p:spPr>
          <a:xfrm>
            <a:off x="4480560" y="39136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通用法律咨询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416052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律图/找法网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32888" y="2167128"/>
            <a:ext cx="237744" cy="237744"/>
          </a:xfrm>
          <a:prstGeom prst="ellipse">
            <a:avLst/>
          </a:prstGeom>
          <a:solidFill>
            <a:srgbClr val="B0B0B0"/>
          </a:solidFill>
        </p:spPr>
      </p:sp>
      <p:sp>
        <p:nvSpPr>
          <p:cNvPr id="20" name="Text 18"/>
          <p:cNvSpPr/>
          <p:nvPr/>
        </p:nvSpPr>
        <p:spPr>
          <a:xfrm>
            <a:off x="1645920" y="24505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女性社区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69748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小红书/豆瓣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44568" y="3995928"/>
            <a:ext cx="237744" cy="237744"/>
          </a:xfrm>
          <a:prstGeom prst="ellipse">
            <a:avLst/>
          </a:prstGeom>
          <a:solidFill>
            <a:srgbClr val="B0B0B0"/>
          </a:solidFill>
        </p:spPr>
      </p:sp>
      <p:sp>
        <p:nvSpPr>
          <p:cNvPr id="23" name="Text 21"/>
          <p:cNvSpPr/>
          <p:nvPr/>
        </p:nvSpPr>
        <p:spPr>
          <a:xfrm>
            <a:off x="3657600" y="42793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传统法律援助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452628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妇联/援助中心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38928" y="1755648"/>
            <a:ext cx="329184" cy="329184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26" name="Shape 24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rgbClr val="9370DB">
              <a:alpha val="3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4297680" y="20848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233172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本作品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18745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唯一占据"专业 + 温度"双高象限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1920240"/>
            <a:ext cx="1417320" cy="137160"/>
          </a:xfrm>
          <a:prstGeom prst="line">
            <a:avLst/>
          </a:prstGeom>
          <a:noFill/>
          <a:ln w="12700">
            <a:solidFill>
              <a:srgbClr val="9370D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我们既能判断,也能陪伴;既给答案,也给支撑。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六大智能体矩阵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一句话承诺 · 一一对应五层困境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103120"/>
            <a:ext cx="1828800" cy="1828800"/>
          </a:xfrm>
          <a:prstGeom prst="ellipse">
            <a:avLst/>
          </a:prstGeom>
          <a:solidFill>
            <a:srgbClr val="B8A9E0">
              <a:alpha val="3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3886200" y="2331720"/>
            <a:ext cx="1371600" cy="1371600"/>
          </a:xfrm>
          <a:prstGeom prst="ellipse">
            <a:avLst/>
          </a:prstGeom>
          <a:solidFill>
            <a:srgbClr val="7B5DC4"/>
          </a:solidFill>
        </p:spPr>
      </p:sp>
      <p:sp>
        <p:nvSpPr>
          <p:cNvPr id="11" name="Text 9"/>
          <p:cNvSpPr/>
          <p:nvPr/>
        </p:nvSpPr>
        <p:spPr>
          <a:xfrm>
            <a:off x="3886200" y="2514600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她盾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86200" y="3108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SHE · SHIELD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0" cy="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383280" y="34290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342900"/>
            <a:ext cx="45720" cy="960120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16" name="Shape 14"/>
          <p:cNvSpPr/>
          <p:nvPr/>
        </p:nvSpPr>
        <p:spPr>
          <a:xfrm>
            <a:off x="5166360" y="41605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5166360" y="4160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11296" y="41605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她眼·言行雷达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11296" y="72694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"一句话告诉我,这事违法吗?"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92024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283825" y="144018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83825" y="1440180"/>
            <a:ext cx="45720" cy="9601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3" name="Shape 21"/>
          <p:cNvSpPr/>
          <p:nvPr/>
        </p:nvSpPr>
        <p:spPr>
          <a:xfrm>
            <a:off x="7066905" y="15133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7066905" y="15133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11841" y="151333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她权·权益指南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1841" y="182422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"我现在有哪些权利?"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01752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283825" y="36347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83825" y="3634740"/>
            <a:ext cx="45720" cy="9601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0" name="Shape 28"/>
          <p:cNvSpPr/>
          <p:nvPr/>
        </p:nvSpPr>
        <p:spPr>
          <a:xfrm>
            <a:off x="7066905" y="370789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7066905" y="370789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11841" y="370789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她证·证据保全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1841" y="401878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"这些证据怎么留住才有效?"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017520"/>
            <a:ext cx="0" cy="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383280" y="473202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4732020"/>
            <a:ext cx="45720" cy="9601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7" name="Shape 35"/>
          <p:cNvSpPr/>
          <p:nvPr/>
        </p:nvSpPr>
        <p:spPr>
          <a:xfrm>
            <a:off x="5166360" y="480517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5166360" y="480517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11296" y="480517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她行·维权导航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11296" y="511606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"下一步我该做什么?"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1455" y="301752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482735" y="36347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482735" y="3634740"/>
            <a:ext cx="45720" cy="96012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44" name="Shape 42"/>
          <p:cNvSpPr/>
          <p:nvPr/>
        </p:nvSpPr>
        <p:spPr>
          <a:xfrm>
            <a:off x="3265815" y="370789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3265815" y="370789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10751" y="370789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她心·情绪树洞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10751" y="401878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"今晚我想找个人说说话。"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71455" y="192024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482735" y="144018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482735" y="1440180"/>
            <a:ext cx="45720" cy="96012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51" name="Shape 49"/>
          <p:cNvSpPr/>
          <p:nvPr/>
        </p:nvSpPr>
        <p:spPr>
          <a:xfrm>
            <a:off x="3265815" y="15133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3265815" y="15133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归属层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610751" y="151333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她声·共鸣回响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610751" y="182422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"原来不只我一个人这样。"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端到端技术架构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从前端到 AI 到法律知识源,得理 API 在哪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920240" cy="73152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1" name="Text 9"/>
          <p:cNvSpPr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前端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Pages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HTML5 + Vanilla 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920240"/>
            <a:ext cx="1920240" cy="73152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6" name="Text 14"/>
          <p:cNvSpPr/>
          <p:nvPr/>
        </p:nvSpPr>
        <p:spPr>
          <a:xfrm>
            <a:off x="274320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CloudBase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代理 + 缓存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密钥下沉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同问同答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920240"/>
            <a:ext cx="1920240" cy="73152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21" name="Text 19"/>
          <p:cNvSpPr/>
          <p:nvPr/>
        </p:nvSpPr>
        <p:spPr>
          <a:xfrm>
            <a:off x="493776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腾讯元器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 大智能体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工作流编排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要件式判定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1920240"/>
            <a:ext cx="1920240" cy="1280160"/>
          </a:xfrm>
          <a:prstGeom prst="rect">
            <a:avLst/>
          </a:prstGeom>
          <a:solidFill>
            <a:srgbClr val="F5F0FF"/>
          </a:solidFill>
          <a:ln w="31750">
            <a:solidFill>
              <a:srgbClr val="E8B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920240"/>
            <a:ext cx="1920240" cy="73152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26" name="Text 24"/>
          <p:cNvSpPr/>
          <p:nvPr/>
        </p:nvSpPr>
        <p:spPr>
          <a:xfrm>
            <a:off x="713232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得理开放平台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法规检索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类案匹配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691640"/>
            <a:ext cx="320040" cy="320040"/>
          </a:xfrm>
          <a:prstGeom prst="ellipse">
            <a:avLst/>
          </a:prstGeom>
          <a:solidFill>
            <a:srgbClr val="E8B4B8"/>
          </a:solidFill>
        </p:spPr>
      </p:sp>
      <p:sp>
        <p:nvSpPr>
          <p:cNvPr id="29" name="Text 27"/>
          <p:cNvSpPr/>
          <p:nvPr/>
        </p:nvSpPr>
        <p:spPr>
          <a:xfrm>
            <a:off x="6766560" y="16916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402336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11880"/>
            <a:ext cx="45720" cy="100584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32" name="Text 30"/>
          <p:cNvSpPr/>
          <p:nvPr/>
        </p:nvSpPr>
        <p:spPr>
          <a:xfrm>
            <a:off x="594360" y="3657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通用大模型(如 ChatGPT)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395020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可能伪造案号 / 编造法条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黑盒判定,不可追溯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611880"/>
            <a:ext cx="4023360" cy="1005840"/>
          </a:xfrm>
          <a:prstGeom prst="rect">
            <a:avLst/>
          </a:prstGeom>
          <a:solidFill>
            <a:srgbClr val="F5F0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611880"/>
            <a:ext cx="45720" cy="100584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6" name="Text 34"/>
          <p:cNvSpPr/>
          <p:nvPr/>
        </p:nvSpPr>
        <p:spPr>
          <a:xfrm>
            <a:off x="4800600" y="3657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 API + 工作流编排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95020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真实判例锚定 — 可查裁判文书网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代码节点确定性映射 — 同问同答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言行雷达 — 工作流深度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为什么"同问同答":等级由规则裁定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1307592"/>
            <a:ext cx="7717536" cy="2734056"/>
          </a:xfrm>
          <a:prstGeom prst="rect">
            <a:avLst/>
          </a:prstGeom>
          <a:solidFill>
            <a:srgbClr val="FFFFFF"/>
          </a:solidFill>
          <a:ln w="15240">
            <a:solidFill>
              <a:srgbClr val="9370DB"/>
            </a:solidFill>
            <a:prstDash val="solid"/>
          </a:ln>
        </p:spPr>
      </p:sp>
      <p:pic>
        <p:nvPicPr>
          <p:cNvPr id="10" name="Image 0" descr="D:\tad-sheild\images\workflow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680960" cy="2697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58000" y="14173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9370DB">
              <a:alpha val="8500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6858000" y="141732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✦ 元器真实编排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1148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以"HR 问我打算什么时候生孩子" 为例 →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4462272"/>
            <a:ext cx="1490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涉及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38912" y="4617720"/>
            <a:ext cx="14904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门控放行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048256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21408" y="4462272"/>
            <a:ext cx="1490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要素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21408" y="4617720"/>
            <a:ext cx="14904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[婚育询问]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30752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03904" y="4462272"/>
            <a:ext cx="1490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检索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03904" y="4617720"/>
            <a:ext cx="14904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妇权法43条+严女士案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13248" y="4434840"/>
            <a:ext cx="1636776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0" y="4462272"/>
            <a:ext cx="1490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要件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86400" y="4617720"/>
            <a:ext cx="14904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3要件满足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095744" y="4434840"/>
            <a:ext cx="1636776" cy="365760"/>
          </a:xfrm>
          <a:prstGeom prst="rect">
            <a:avLst/>
          </a:prstGeom>
          <a:solidFill>
            <a:srgbClr val="FFF1E7"/>
          </a:solidFill>
          <a:ln w="6350">
            <a:solidFill>
              <a:srgbClr val="F7680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68896" y="4462272"/>
            <a:ext cx="1490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映射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168896" y="4617720"/>
            <a:ext cx="14904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中危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可解释的风险分级 + 反误判机制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规则透明 · 用户最终发言权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389120" cy="502920"/>
          </a:xfrm>
          <a:prstGeom prst="rect">
            <a:avLst/>
          </a:prstGeom>
          <a:solidFill>
            <a:srgbClr val="FDECEC"/>
          </a:solidFill>
        </p:spPr>
      </p:sp>
      <p:sp>
        <p:nvSpPr>
          <p:cNvPr id="10" name="Shape 8"/>
          <p:cNvSpPr/>
          <p:nvPr/>
        </p:nvSpPr>
        <p:spPr>
          <a:xfrm>
            <a:off x="365760" y="1417320"/>
            <a:ext cx="64008" cy="50292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11" name="Text 9"/>
          <p:cNvSpPr/>
          <p:nvPr/>
        </p:nvSpPr>
        <p:spPr>
          <a:xfrm>
            <a:off x="502920" y="141732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4173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高危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14173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 + 实质后果/制度性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389120" cy="502920"/>
          </a:xfrm>
          <a:prstGeom prst="rect">
            <a:avLst/>
          </a:prstGeom>
          <a:solidFill>
            <a:srgbClr val="FFF1E7"/>
          </a:solidFill>
        </p:spPr>
      </p:sp>
      <p:sp>
        <p:nvSpPr>
          <p:cNvPr id="15" name="Shape 13"/>
          <p:cNvSpPr/>
          <p:nvPr/>
        </p:nvSpPr>
        <p:spPr>
          <a:xfrm>
            <a:off x="365760" y="1965960"/>
            <a:ext cx="64008" cy="502920"/>
          </a:xfrm>
          <a:prstGeom prst="rect">
            <a:avLst/>
          </a:prstGeom>
          <a:solidFill>
            <a:srgbClr val="F76808"/>
          </a:solidFill>
        </p:spPr>
      </p:sp>
      <p:sp>
        <p:nvSpPr>
          <p:cNvPr id="16" name="Text 14"/>
          <p:cNvSpPr/>
          <p:nvPr/>
        </p:nvSpPr>
        <p:spPr>
          <a:xfrm>
            <a:off x="502920" y="196596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196596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680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中危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19659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关键要件满足或存在存疑项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4389120" cy="502920"/>
          </a:xfrm>
          <a:prstGeom prst="rect">
            <a:avLst/>
          </a:prstGeom>
          <a:solidFill>
            <a:srgbClr val="FFF8E6"/>
          </a:solidFill>
        </p:spPr>
      </p:sp>
      <p:sp>
        <p:nvSpPr>
          <p:cNvPr id="20" name="Shape 18"/>
          <p:cNvSpPr/>
          <p:nvPr/>
        </p:nvSpPr>
        <p:spPr>
          <a:xfrm>
            <a:off x="365760" y="2514600"/>
            <a:ext cx="64008" cy="50292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1" name="Text 19"/>
          <p:cNvSpPr/>
          <p:nvPr/>
        </p:nvSpPr>
        <p:spPr>
          <a:xfrm>
            <a:off x="502920" y="251460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251460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低危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25146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关键要件满足但其余多缺失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389120" cy="502920"/>
          </a:xfrm>
          <a:prstGeom prst="rect">
            <a:avLst/>
          </a:prstGeom>
          <a:solidFill>
            <a:srgbClr val="E9F7EF"/>
          </a:solidFill>
        </p:spPr>
      </p:sp>
      <p:sp>
        <p:nvSpPr>
          <p:cNvPr id="25" name="Shape 23"/>
          <p:cNvSpPr/>
          <p:nvPr/>
        </p:nvSpPr>
        <p:spPr>
          <a:xfrm>
            <a:off x="365760" y="3063240"/>
            <a:ext cx="64008" cy="502920"/>
          </a:xfrm>
          <a:prstGeom prst="rect">
            <a:avLst/>
          </a:prstGeom>
          <a:solidFill>
            <a:srgbClr val="30A46C"/>
          </a:solidFill>
        </p:spPr>
      </p:sp>
      <p:sp>
        <p:nvSpPr>
          <p:cNvPr id="26" name="Text 24"/>
          <p:cNvSpPr/>
          <p:nvPr/>
        </p:nvSpPr>
        <p:spPr>
          <a:xfrm>
            <a:off x="502920" y="306324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A46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无风险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0632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关键要件均不满足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417320"/>
            <a:ext cx="3749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17320"/>
            <a:ext cx="45720" cy="269748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31" name="Shape 29"/>
          <p:cNvSpPr/>
          <p:nvPr/>
        </p:nvSpPr>
        <p:spPr>
          <a:xfrm>
            <a:off x="5166360" y="1527048"/>
            <a:ext cx="329184" cy="32918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370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508760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↻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15087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反误判机制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6360" y="187452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被门控判"不涉及"时,用户可一键触发深度分析,跳过门控直接进入要件式评估。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26974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9370DB"/>
          </a:solidFill>
        </p:spPr>
      </p:sp>
      <p:sp>
        <p:nvSpPr>
          <p:cNvPr id="36" name="Text 34"/>
          <p:cNvSpPr/>
          <p:nvPr/>
        </p:nvSpPr>
        <p:spPr>
          <a:xfrm>
            <a:off x="5303520" y="26974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强制深度分析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337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 即使算法犯错,用户也有发言权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召回优先 · 存疑往上判 · 用户可推翻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100 条测试集 · 方法学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精标 + 50 变体 · 17 条挂真实判例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条精标分类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502920" y="17830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骚扰-高危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14" name="Text 12"/>
          <p:cNvSpPr/>
          <p:nvPr/>
        </p:nvSpPr>
        <p:spPr>
          <a:xfrm>
            <a:off x="502920" y="20756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骚扰-中危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07568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02920" y="236829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骚扰-低危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36829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20" name="Text 18"/>
          <p:cNvSpPr/>
          <p:nvPr/>
        </p:nvSpPr>
        <p:spPr>
          <a:xfrm>
            <a:off x="502920" y="266090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歧视-高危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6090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502920" y="295351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歧视-中危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95351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26" name="Text 24"/>
          <p:cNvSpPr/>
          <p:nvPr/>
        </p:nvSpPr>
        <p:spPr>
          <a:xfrm>
            <a:off x="502920" y="32461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歧视-低危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502920" y="353872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无关-无风险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353872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条变体策略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78308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34" name="Text 32"/>
          <p:cNvSpPr/>
          <p:nvPr/>
        </p:nvSpPr>
        <p:spPr>
          <a:xfrm>
            <a:off x="4800600" y="1783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同义改写 paraphrase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1783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测语言鲁棒性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19456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39" name="Text 37"/>
          <p:cNvSpPr/>
          <p:nvPr/>
        </p:nvSpPr>
        <p:spPr>
          <a:xfrm>
            <a:off x="480060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细节扰动 perturb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21945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2194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测是否过拟合表面词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060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0604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44" name="Text 42"/>
          <p:cNvSpPr/>
          <p:nvPr/>
        </p:nvSpPr>
        <p:spPr>
          <a:xfrm>
            <a:off x="4800600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干扰句 distract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2606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26680" y="26060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测聚焦能力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01752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1752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49" name="Text 47"/>
          <p:cNvSpPr/>
          <p:nvPr/>
        </p:nvSpPr>
        <p:spPr>
          <a:xfrm>
            <a:off x="4800600" y="30175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要件边界 boundary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0175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26680" y="30175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 risk_level,测规则贴合度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42900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42900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54" name="Text 52"/>
          <p:cNvSpPr/>
          <p:nvPr/>
        </p:nvSpPr>
        <p:spPr>
          <a:xfrm>
            <a:off x="4800600" y="3429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长文本扩展 verbose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429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26680" y="34290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测自然篇幅稳定性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锚点分布:  </a:t>
            </a:r>
            <a:r>
              <a:rPr lang="en-US" sz="12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条真实判例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(含案号/法院/年份)  · </a:t>
            </a: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条法条明文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</a:t>
            </a: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 条规则派生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(低危/无关)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准确率数据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100 条锚定测试集上的实测表现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整体准确率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0080" y="1828800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242316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XX%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95% CI ±7%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3520440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0" y="3520440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3767328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中危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11680" y="3767328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4014216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🟡 低危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011680" y="4014216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4261104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🟢 无风险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11680" y="4261104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0A4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0" y="14173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混淆矩阵 (行=期望 / 列=实际)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0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76672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76672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81344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81344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中危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986016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86016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低危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90688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90688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0" y="22402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0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76672" y="2240280"/>
            <a:ext cx="804672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76672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181344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81344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986016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86016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790688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90688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572000" y="26974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0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中危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376672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76672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181344" y="2697480"/>
            <a:ext cx="804672" cy="457200"/>
          </a:xfrm>
          <a:prstGeom prst="rect">
            <a:avLst/>
          </a:prstGeom>
          <a:solidFill>
            <a:srgbClr val="FFF1E7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81344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6986016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986016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7790688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790688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4572000" y="31546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72000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低危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376672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76672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6181344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81344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6986016" y="3154680"/>
            <a:ext cx="804672" cy="457200"/>
          </a:xfrm>
          <a:prstGeom prst="rect">
            <a:avLst/>
          </a:prstGeom>
          <a:solidFill>
            <a:srgbClr val="FFF8E6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986016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7790688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790688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4572000" y="36118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572000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376672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376672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6181344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181344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6986016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986016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7790688" y="3611880"/>
            <a:ext cx="804672" cy="457200"/>
          </a:xfrm>
          <a:prstGeom prst="rect">
            <a:avLst/>
          </a:prstGeom>
          <a:solidFill>
            <a:srgbClr val="E9F7E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790688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4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4572000" y="41148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 = 数据将在评测完成后填入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现场演示 · 言行雷达运行实录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用户输入 → 节点逐一亮起 → 报告卡同屏呈现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173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 输入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41732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"面试时 HR 问我打算什么时候结婚生孩子"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4937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370DB"/>
            </a:solidFill>
            <a:prstDash val="solid"/>
          </a:ln>
        </p:spPr>
      </p:sp>
      <p:pic>
        <p:nvPicPr>
          <p:cNvPr id="15" name="Image 0" descr="D:\tad-sheild\images\言行雷达工作流运行动图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4572000" cy="245973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486400" y="201168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0" y="2011680"/>
            <a:ext cx="45720" cy="27432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9" name="Text 16"/>
          <p:cNvSpPr/>
          <p:nvPr/>
        </p:nvSpPr>
        <p:spPr>
          <a:xfrm>
            <a:off x="5623560" y="208483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报告同屏呈现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0" y="2423160"/>
            <a:ext cx="306324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风险标 + 一句话总结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💬 温暖叙事(法律解释)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三档话术(委婉/坚定/正式)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⚖️ 妇权法 43 条 + 得理徽标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📁 严女士案 + 案号 + 法院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折叠"判定依据"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社会价值 · 降低三道门槛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让每一个"本该沉默的瞬间",都有回应的能力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01168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心理门槛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情绪承接 + 共鸣社区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让用户不再孤单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2011680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16" name="Text 14"/>
          <p:cNvSpPr/>
          <p:nvPr/>
        </p:nvSpPr>
        <p:spPr>
          <a:xfrm>
            <a:off x="320040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信息门槛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法条白话 + 权利清单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让用户看清规则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201168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21" name="Text 19"/>
          <p:cNvSpPr/>
          <p:nvPr/>
        </p:nvSpPr>
        <p:spPr>
          <a:xfrm>
            <a:off x="603504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🔧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技术门槛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操作级取证指导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让用户会取证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让更多女性 </a:t>
            </a:r>
            <a:r>
              <a:rPr 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从</a:t>
            </a:r>
            <a:r>
              <a:rPr lang="en-US" sz="2000" i="1" dirty="0">
                <a:solidFill>
                  <a:srgbClr val="9999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"算了吧"</a:t>
            </a:r>
            <a:r>
              <a:rPr lang="en-US" sz="20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  →  </a:t>
            </a:r>
            <a:r>
              <a:rPr lang="en-US" sz="2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"我知道该怎么做了"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技术是理性的,但使用技术的人是有温度的。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致谢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感谢一路给力的人、平台与判例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🛠 工具与平台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腾讯元器 — 5 大智能体编排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得理开放平台 — 法规与类案 API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CloudBase — 后端代理与社区存储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CodeBuddy — 辅助开发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508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⚖️ 判例与机构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最高人民法院典型案例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各级人民法院判决书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检察机关发布典型案件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全国妇联 / 人社部相关数据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3075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🌸 她说了算队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 成员姓名 1 · 成员 2 · 成员 3(角色/分工)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GitHub: github.com/Huangjwwen/her_shield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37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扫码看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406908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仓库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429768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 二维码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5D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9370DB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E8B4B8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kern="0" spc="2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期待您的提问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 · 她盾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2450</Words>
  <Application>WPS 演示</Application>
  <PresentationFormat>On-screen Show (16:9)</PresentationFormat>
  <Paragraphs>553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宋体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她盾 答辩 PPT</dc:title>
  <dc:creator>她说了算队</dc:creator>
  <dc:subject>职场女性权益守护智能体</dc:subject>
  <cp:lastModifiedBy>Sakura.</cp:lastModifiedBy>
  <cp:revision>2</cp:revision>
  <dcterms:created xsi:type="dcterms:W3CDTF">2026-05-31T23:18:00Z</dcterms:created>
  <dcterms:modified xsi:type="dcterms:W3CDTF">2026-05-31T23:29:02Z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04E75AF43C3A4690987242CE7D024875_12</vt:lpwstr>
  </property>
</Properties>
</file>