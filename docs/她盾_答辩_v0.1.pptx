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389120" cy="4389120"/>
          </a:xfrm>
          <a:prstGeom prst="ellipse">
            <a:avLst/>
          </a:prstGeom>
          <a:solidFill>
            <a:srgbClr val="E8B4B8">
              <a:alpha val="2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217920" y="2926080"/>
            <a:ext cx="5029200" cy="5029200"/>
          </a:xfrm>
          <a:prstGeom prst="ellipse">
            <a:avLst/>
          </a:prstGeom>
          <a:solidFill>
            <a:srgbClr val="B8A9E0">
              <a:alpha val="3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4463415" y="3474720"/>
            <a:ext cx="4572000" cy="4572000"/>
          </a:xfrm>
          <a:prstGeom prst="ellipse">
            <a:avLst/>
          </a:prstGeom>
          <a:solidFill>
            <a:srgbClr val="FFFFFF">
              <a:alpha val="0"/>
            </a:srgbClr>
          </a:solidFill>
          <a:ln w="7620">
            <a:solidFill>
              <a:srgbClr val="9370DB">
                <a:alpha val="30000"/>
              </a:srgbClr>
            </a:solidFill>
            <a:prstDash val="solid"/>
          </a:ln>
        </p:spPr>
      </p:sp>
      <p:pic>
        <p:nvPicPr>
          <p:cNvPr id="6" name="Image 0" descr="D:\tad-sheild\her_shield\logo.png"/>
          <p:cNvPicPr>
            <a:picLocks noChangeAspect="1"/>
          </p:cNvPicPr>
          <p:nvPr/>
        </p:nvPicPr>
        <p:blipFill>
          <a:blip r:embed="rId1">
            <a:lum contrast="12000"/>
          </a:blip>
          <a:stretch>
            <a:fillRect/>
          </a:stretch>
        </p:blipFill>
        <p:spPr>
          <a:xfrm>
            <a:off x="457200" y="795655"/>
            <a:ext cx="3371850" cy="3371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60520" y="9601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SHE · SHIELD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60520" y="132588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她盾</a:t>
            </a:r>
            <a:endParaRPr lang="en-US" sz="11000" dirty="0"/>
          </a:p>
        </p:txBody>
      </p:sp>
      <p:sp>
        <p:nvSpPr>
          <p:cNvPr id="9" name="Text 6"/>
          <p:cNvSpPr/>
          <p:nvPr/>
        </p:nvSpPr>
        <p:spPr>
          <a:xfrm>
            <a:off x="4160520" y="27889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职场女性权益守护智能体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160520" y="3383280"/>
            <a:ext cx="640080" cy="0"/>
          </a:xfrm>
          <a:prstGeom prst="line">
            <a:avLst/>
          </a:prstGeom>
          <a:noFill/>
          <a:ln w="44450">
            <a:solidFill>
              <a:srgbClr val="E8B4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60520" y="35204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"你的身后,站着一个懂法更懂你的「她」"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6350">
            <a:solidFill>
              <a:srgbClr val="B8A9E0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4805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团队：</a:t>
            </a: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89120" y="448056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第十七届中国大学生服务外包大赛 · 腾讯开悟全球 AI 公开赛 D06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0" y="4736592"/>
            <a:ext cx="44805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一条断裂的链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在每一个被沉默的瞬间,究竟卡在哪一环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128016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1" name="Text 9"/>
          <p:cNvSpPr/>
          <p:nvPr/>
        </p:nvSpPr>
        <p:spPr>
          <a:xfrm>
            <a:off x="502920" y="1508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60.9%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求职女性被询问婚育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智联招聘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63040"/>
            <a:ext cx="45720" cy="128016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6" name="Text 14"/>
          <p:cNvSpPr/>
          <p:nvPr/>
        </p:nvSpPr>
        <p:spPr>
          <a:xfrm>
            <a:off x="3337560" y="1508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&lt; 30%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337560" y="2148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职场性别歧视案胜诉率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4231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中国裁判文书网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463040"/>
            <a:ext cx="45720" cy="128016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1" name="Text 19"/>
          <p:cNvSpPr/>
          <p:nvPr/>
        </p:nvSpPr>
        <p:spPr>
          <a:xfrm>
            <a:off x="6172200" y="1508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7%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172200" y="2148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性骚扰受害者选择报警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4231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全国妇联统计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063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五层用户困境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640080" cy="640080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26" name="Text 24"/>
          <p:cNvSpPr/>
          <p:nvPr/>
        </p:nvSpPr>
        <p:spPr>
          <a:xfrm>
            <a:off x="36576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不知违法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57400" y="3520440"/>
            <a:ext cx="640080" cy="640080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30" name="Text 28"/>
          <p:cNvSpPr/>
          <p:nvPr/>
        </p:nvSpPr>
        <p:spPr>
          <a:xfrm>
            <a:off x="205740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74320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不知找谁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49040" y="3520440"/>
            <a:ext cx="640080" cy="640080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34" name="Text 32"/>
          <p:cNvSpPr/>
          <p:nvPr/>
        </p:nvSpPr>
        <p:spPr>
          <a:xfrm>
            <a:off x="374904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3484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3484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不会取证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40680" y="3520440"/>
            <a:ext cx="640080" cy="640080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38" name="Text 36"/>
          <p:cNvSpPr/>
          <p:nvPr/>
        </p:nvSpPr>
        <p:spPr>
          <a:xfrm>
            <a:off x="544068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12648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行动层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不敢维权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32320" y="3520440"/>
            <a:ext cx="640080" cy="640080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42" name="Text 40"/>
          <p:cNvSpPr/>
          <p:nvPr/>
        </p:nvSpPr>
        <p:spPr>
          <a:xfrm>
            <a:off x="713232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81812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归属层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1812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孤立无援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我们要做的,是把这条断裂链重新接上。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差异化定位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为什么不是另一个法律咨询 / 女性社区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65760" y="1463040"/>
          <a:ext cx="8412480" cy="2286000"/>
        </p:xfrm>
        <a:graphic>
          <a:graphicData uri="http://schemas.openxmlformats.org/drawingml/2006/table">
            <a:tbl>
              <a:tblPr/>
              <a:tblGrid>
                <a:gridCol w="2468880"/>
                <a:gridCol w="960120"/>
                <a:gridCol w="960120"/>
                <a:gridCol w="1051560"/>
                <a:gridCol w="1051560"/>
                <a:gridCol w="960120"/>
                <a:gridCol w="96012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方案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即时响应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法条精准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取证指导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场景垂直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低门槛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D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情感支持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D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通用法律咨询(律图等)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女性社区(小红书等)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传统法律援助(妇联)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部分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她盾(本作品)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7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7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7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7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7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7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70DB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我们既能判断,也能陪伴;既给答案,也给支撑。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六大智能体矩阵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从识别到陪伴,各司其职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101600" dist="25400" dir="8100000" algn="bl" rotWithShape="0">
              <a:srgbClr val="9370D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417320"/>
            <a:ext cx="45720" cy="14173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1" name="Shape 9"/>
          <p:cNvSpPr/>
          <p:nvPr/>
        </p:nvSpPr>
        <p:spPr>
          <a:xfrm>
            <a:off x="2286000" y="15544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2286000" y="155448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554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她眼·言行雷达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196596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要件式判定 + 风险分级 + 法条/类案锚定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4173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101600" dist="25400" dir="8100000" algn="bl" rotWithShape="0">
              <a:srgbClr val="9370DB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417320"/>
            <a:ext cx="45720" cy="14173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7" name="Shape 15"/>
          <p:cNvSpPr/>
          <p:nvPr/>
        </p:nvSpPr>
        <p:spPr>
          <a:xfrm>
            <a:off x="5120640" y="15544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5120640" y="155448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确权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1554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她权·权益指南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83280" y="196596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场景化权利清单 + 法条号 + 白话解释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4173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101600" dist="25400" dir="8100000" algn="bl" rotWithShape="0">
              <a:srgbClr val="9370DB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417320"/>
            <a:ext cx="45720" cy="14173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3" name="Shape 21"/>
          <p:cNvSpPr/>
          <p:nvPr/>
        </p:nvSpPr>
        <p:spPr>
          <a:xfrm>
            <a:off x="7955280" y="15544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7955280" y="155448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她证·证据保全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196596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SHA-256 证据指纹 + 6 大典型场景取证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0175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101600" dist="25400" dir="8100000" algn="bl" rotWithShape="0">
              <a:srgbClr val="9370DB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017520"/>
            <a:ext cx="45720" cy="14173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9" name="Shape 27"/>
          <p:cNvSpPr/>
          <p:nvPr/>
        </p:nvSpPr>
        <p:spPr>
          <a:xfrm>
            <a:off x="2286000" y="31546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2286000" y="315468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1546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她行·维权导航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356616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步阶梯路径 + 时效提醒 + 分支决策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30175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101600" dist="25400" dir="8100000" algn="bl" rotWithShape="0">
              <a:srgbClr val="9370DB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3017520"/>
            <a:ext cx="45720" cy="14173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35" name="Shape 33"/>
          <p:cNvSpPr/>
          <p:nvPr/>
        </p:nvSpPr>
        <p:spPr>
          <a:xfrm>
            <a:off x="5120640" y="31546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5120640" y="315468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陪伴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83280" y="31546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她心·情绪树洞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383280" y="356616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CBT 轻支持 + 语音引导 + 危机干预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35040" y="301752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101600" dist="25400" dir="8100000" algn="bl" rotWithShape="0">
              <a:srgbClr val="9370DB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3017520"/>
            <a:ext cx="45720" cy="14173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41" name="Shape 39"/>
          <p:cNvSpPr/>
          <p:nvPr/>
        </p:nvSpPr>
        <p:spPr>
          <a:xfrm>
            <a:off x="7955280" y="315468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7955280" y="315468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社群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31546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她声·共鸣回响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17920" y="356616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匿名经历分享 + 标签筛选 + 真实案例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端到端技术架构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从前端到 AI 到法律知识源,得理 API 在哪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A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1920240" cy="73152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11" name="Text 9"/>
          <p:cNvSpPr/>
          <p:nvPr/>
        </p:nvSpPr>
        <p:spPr>
          <a:xfrm>
            <a:off x="54864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前端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 Pages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HTML5 + Vanilla 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95728" y="2331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920240"/>
            <a:ext cx="1920240" cy="73152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6" name="Text 14"/>
          <p:cNvSpPr/>
          <p:nvPr/>
        </p:nvSpPr>
        <p:spPr>
          <a:xfrm>
            <a:off x="274320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CloudBase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代理 + 缓存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密钥下沉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同问同答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0288" y="2331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5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920240"/>
            <a:ext cx="1920240" cy="73152"/>
          </a:xfrm>
          <a:prstGeom prst="rect">
            <a:avLst/>
          </a:prstGeom>
          <a:solidFill>
            <a:srgbClr val="7B5DC4"/>
          </a:solidFill>
        </p:spPr>
      </p:sp>
      <p:sp>
        <p:nvSpPr>
          <p:cNvPr id="21" name="Text 19"/>
          <p:cNvSpPr/>
          <p:nvPr/>
        </p:nvSpPr>
        <p:spPr>
          <a:xfrm>
            <a:off x="493776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腾讯元器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5 大智能体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工作流编排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要件式判定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2331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40880" y="1920240"/>
            <a:ext cx="1920240" cy="1280160"/>
          </a:xfrm>
          <a:prstGeom prst="rect">
            <a:avLst/>
          </a:prstGeom>
          <a:solidFill>
            <a:srgbClr val="F5F0FF"/>
          </a:solidFill>
          <a:ln w="31750">
            <a:solidFill>
              <a:srgbClr val="E8B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920240"/>
            <a:ext cx="1920240" cy="73152"/>
          </a:xfrm>
          <a:prstGeom prst="rect">
            <a:avLst/>
          </a:prstGeom>
          <a:solidFill>
            <a:srgbClr val="E8B4B8"/>
          </a:solidFill>
        </p:spPr>
      </p:sp>
      <p:sp>
        <p:nvSpPr>
          <p:cNvPr id="26" name="Text 24"/>
          <p:cNvSpPr/>
          <p:nvPr/>
        </p:nvSpPr>
        <p:spPr>
          <a:xfrm>
            <a:off x="713232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得理开放平台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法规检索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类案匹配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1691640"/>
            <a:ext cx="320040" cy="320040"/>
          </a:xfrm>
          <a:prstGeom prst="ellipse">
            <a:avLst/>
          </a:prstGeom>
          <a:solidFill>
            <a:srgbClr val="E8B4B8"/>
          </a:solidFill>
        </p:spPr>
      </p:sp>
      <p:sp>
        <p:nvSpPr>
          <p:cNvPr id="29" name="Text 27"/>
          <p:cNvSpPr/>
          <p:nvPr/>
        </p:nvSpPr>
        <p:spPr>
          <a:xfrm>
            <a:off x="6766560" y="16916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5F0FF"/>
          </a:solidFill>
          <a:ln w="9525">
            <a:solidFill>
              <a:srgbClr val="B8A9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657600"/>
            <a:ext cx="45720" cy="9144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32" name="Text 30"/>
          <p:cNvSpPr/>
          <p:nvPr/>
        </p:nvSpPr>
        <p:spPr>
          <a:xfrm>
            <a:off x="640080" y="3703320"/>
            <a:ext cx="7955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得理 API 承担两个关键角色: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法规检索 — 在判定前实时检索相关法条作为评估依据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类案匹配 — 真实判例锚定,法条引用可追溯至案号、法院、年份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言行雷达 — 工作流深度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为什么"同问同答":等级由规则裁定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162763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91640"/>
            <a:ext cx="45720" cy="146304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11" name="Text 9"/>
          <p:cNvSpPr/>
          <p:nvPr/>
        </p:nvSpPr>
        <p:spPr>
          <a:xfrm>
            <a:off x="457200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门控判断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召回优先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沾边即放行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20824" y="1691640"/>
            <a:ext cx="162763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0824" y="1691640"/>
            <a:ext cx="45720" cy="146304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16" name="Text 14"/>
          <p:cNvSpPr/>
          <p:nvPr/>
        </p:nvSpPr>
        <p:spPr>
          <a:xfrm>
            <a:off x="2157984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57984" y="214884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案情要素抽取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57984" y="269748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 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类型/要件/严重度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21608" y="1691640"/>
            <a:ext cx="162763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1608" y="1691640"/>
            <a:ext cx="45720" cy="146304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21" name="Text 19"/>
          <p:cNvSpPr/>
          <p:nvPr/>
        </p:nvSpPr>
        <p:spPr>
          <a:xfrm>
            <a:off x="3858768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③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58768" y="214884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法规 + 类案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并行检索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58768" y="269748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得理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两路并发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22392" y="1691640"/>
            <a:ext cx="162763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22392" y="1691640"/>
            <a:ext cx="45720" cy="146304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26" name="Text 24"/>
          <p:cNvSpPr/>
          <p:nvPr/>
        </p:nvSpPr>
        <p:spPr>
          <a:xfrm>
            <a:off x="5559552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④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59552" y="214884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要件式判定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59552" y="269748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输出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结构化字段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23176" y="1691640"/>
            <a:ext cx="1627632" cy="1463040"/>
          </a:xfrm>
          <a:prstGeom prst="rect">
            <a:avLst/>
          </a:prstGeom>
          <a:solidFill>
            <a:srgbClr val="F5F0FF"/>
          </a:solidFill>
          <a:ln w="25400">
            <a:solidFill>
              <a:srgbClr val="9370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23176" y="1691640"/>
            <a:ext cx="45720" cy="146304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31" name="Text 29"/>
          <p:cNvSpPr/>
          <p:nvPr/>
        </p:nvSpPr>
        <p:spPr>
          <a:xfrm>
            <a:off x="7260336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⑤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60336" y="214884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代码节点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确定性映射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60336" y="2697480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规则引擎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出风险等级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29384" y="228600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30168" y="228600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30952" y="228600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31736" y="228600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3520440"/>
            <a:ext cx="8412480" cy="1005840"/>
          </a:xfrm>
          <a:prstGeom prst="rect">
            <a:avLst/>
          </a:prstGeom>
          <a:solidFill>
            <a:srgbClr val="F5F0FF"/>
          </a:solidFill>
          <a:ln w="9525">
            <a:solidFill>
              <a:srgbClr val="B8A9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520440"/>
            <a:ext cx="45720" cy="100584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40" name="Text 38"/>
          <p:cNvSpPr/>
          <p:nvPr/>
        </p:nvSpPr>
        <p:spPr>
          <a:xfrm>
            <a:off x="548640" y="3611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关键创新: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" y="38862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风险等级不是 AI 主观打分,而是由代码节点按法律要件 + 加重情节按规则确定性映射。同一输入永远同一等级。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可解释的风险分级 + 反误判机制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规则透明 · 用户最终发言权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4389120" cy="502920"/>
          </a:xfrm>
          <a:prstGeom prst="rect">
            <a:avLst/>
          </a:prstGeom>
          <a:solidFill>
            <a:srgbClr val="FDECEC"/>
          </a:solidFill>
        </p:spPr>
      </p:sp>
      <p:sp>
        <p:nvSpPr>
          <p:cNvPr id="10" name="Shape 8"/>
          <p:cNvSpPr/>
          <p:nvPr/>
        </p:nvSpPr>
        <p:spPr>
          <a:xfrm>
            <a:off x="365760" y="1417320"/>
            <a:ext cx="64008" cy="502920"/>
          </a:xfrm>
          <a:prstGeom prst="rect">
            <a:avLst/>
          </a:prstGeom>
          <a:solidFill>
            <a:srgbClr val="E5484D"/>
          </a:solidFill>
        </p:spPr>
      </p:sp>
      <p:sp>
        <p:nvSpPr>
          <p:cNvPr id="11" name="Text 9"/>
          <p:cNvSpPr/>
          <p:nvPr/>
        </p:nvSpPr>
        <p:spPr>
          <a:xfrm>
            <a:off x="502920" y="141732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141732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48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高危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141732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 + 实质后果/制度性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4389120" cy="502920"/>
          </a:xfrm>
          <a:prstGeom prst="rect">
            <a:avLst/>
          </a:prstGeom>
          <a:solidFill>
            <a:srgbClr val="FFF1E7"/>
          </a:solidFill>
        </p:spPr>
      </p:sp>
      <p:sp>
        <p:nvSpPr>
          <p:cNvPr id="15" name="Shape 13"/>
          <p:cNvSpPr/>
          <p:nvPr/>
        </p:nvSpPr>
        <p:spPr>
          <a:xfrm>
            <a:off x="365760" y="1965960"/>
            <a:ext cx="64008" cy="502920"/>
          </a:xfrm>
          <a:prstGeom prst="rect">
            <a:avLst/>
          </a:prstGeom>
          <a:solidFill>
            <a:srgbClr val="F76808"/>
          </a:solidFill>
        </p:spPr>
      </p:sp>
      <p:sp>
        <p:nvSpPr>
          <p:cNvPr id="16" name="Text 14"/>
          <p:cNvSpPr/>
          <p:nvPr/>
        </p:nvSpPr>
        <p:spPr>
          <a:xfrm>
            <a:off x="502920" y="196596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196596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680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中危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19659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关键要件满足或存在存疑项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4389120" cy="502920"/>
          </a:xfrm>
          <a:prstGeom prst="rect">
            <a:avLst/>
          </a:prstGeom>
          <a:solidFill>
            <a:srgbClr val="FFF8E6"/>
          </a:solidFill>
        </p:spPr>
      </p:sp>
      <p:sp>
        <p:nvSpPr>
          <p:cNvPr id="20" name="Shape 18"/>
          <p:cNvSpPr/>
          <p:nvPr/>
        </p:nvSpPr>
        <p:spPr>
          <a:xfrm>
            <a:off x="365760" y="2514600"/>
            <a:ext cx="64008" cy="50292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1" name="Text 19"/>
          <p:cNvSpPr/>
          <p:nvPr/>
        </p:nvSpPr>
        <p:spPr>
          <a:xfrm>
            <a:off x="502920" y="251460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251460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低危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251460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关键要件满足但其余多缺失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4389120" cy="502920"/>
          </a:xfrm>
          <a:prstGeom prst="rect">
            <a:avLst/>
          </a:prstGeom>
          <a:solidFill>
            <a:srgbClr val="E9F7EF"/>
          </a:solidFill>
        </p:spPr>
      </p:sp>
      <p:sp>
        <p:nvSpPr>
          <p:cNvPr id="25" name="Shape 23"/>
          <p:cNvSpPr/>
          <p:nvPr/>
        </p:nvSpPr>
        <p:spPr>
          <a:xfrm>
            <a:off x="365760" y="3063240"/>
            <a:ext cx="64008" cy="502920"/>
          </a:xfrm>
          <a:prstGeom prst="rect">
            <a:avLst/>
          </a:prstGeom>
          <a:solidFill>
            <a:srgbClr val="30A46C"/>
          </a:solidFill>
        </p:spPr>
      </p:sp>
      <p:sp>
        <p:nvSpPr>
          <p:cNvPr id="26" name="Text 24"/>
          <p:cNvSpPr/>
          <p:nvPr/>
        </p:nvSpPr>
        <p:spPr>
          <a:xfrm>
            <a:off x="502920" y="306324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306324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A46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无风险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30632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关键要件均不满足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1417320"/>
            <a:ext cx="3749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417320"/>
            <a:ext cx="45720" cy="2697480"/>
          </a:xfrm>
          <a:prstGeom prst="rect">
            <a:avLst/>
          </a:prstGeom>
          <a:solidFill>
            <a:srgbClr val="E8B4B8"/>
          </a:solidFill>
        </p:spPr>
      </p:sp>
      <p:sp>
        <p:nvSpPr>
          <p:cNvPr id="31" name="Text 29"/>
          <p:cNvSpPr/>
          <p:nvPr/>
        </p:nvSpPr>
        <p:spPr>
          <a:xfrm>
            <a:off x="5166360" y="15087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🔄 反误判机制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66360" y="1874520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被门控判"不涉及"时,用户可一键触发深度分析,跳过门控直接进入要件式评估。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03520" y="26974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9370DB"/>
          </a:solidFill>
        </p:spPr>
      </p:sp>
      <p:sp>
        <p:nvSpPr>
          <p:cNvPr id="34" name="Text 32"/>
          <p:cNvSpPr/>
          <p:nvPr/>
        </p:nvSpPr>
        <p:spPr>
          <a:xfrm>
            <a:off x="5303520" y="26974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🔍 强制深度分析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33375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 即使算法犯错,用户也有发言权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召回优先 · 存疑往上判 · 用户可推翻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100 条测试集 · 方法学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 精标 + 50 变体 · 17 条挂真实判例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 条精标分类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502920" y="17830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骚扰-高危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75688"/>
            <a:ext cx="4114800" cy="256032"/>
          </a:xfrm>
          <a:prstGeom prst="rect">
            <a:avLst/>
          </a:prstGeom>
          <a:solidFill>
            <a:srgbClr val="F5F0FF"/>
          </a:solidFill>
        </p:spPr>
      </p:sp>
      <p:sp>
        <p:nvSpPr>
          <p:cNvPr id="14" name="Text 12"/>
          <p:cNvSpPr/>
          <p:nvPr/>
        </p:nvSpPr>
        <p:spPr>
          <a:xfrm>
            <a:off x="502920" y="207568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骚扰-中危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07568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68296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02920" y="236829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骚扰-低危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36829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60904"/>
            <a:ext cx="4114800" cy="256032"/>
          </a:xfrm>
          <a:prstGeom prst="rect">
            <a:avLst/>
          </a:prstGeom>
          <a:solidFill>
            <a:srgbClr val="F5F0FF"/>
          </a:solidFill>
        </p:spPr>
      </p:sp>
      <p:sp>
        <p:nvSpPr>
          <p:cNvPr id="20" name="Text 18"/>
          <p:cNvSpPr/>
          <p:nvPr/>
        </p:nvSpPr>
        <p:spPr>
          <a:xfrm>
            <a:off x="502920" y="266090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歧视-高危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66090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953512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502920" y="295351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歧视-中危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95351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4114800" cy="256032"/>
          </a:xfrm>
          <a:prstGeom prst="rect">
            <a:avLst/>
          </a:prstGeom>
          <a:solidFill>
            <a:srgbClr val="F5F0FF"/>
          </a:solidFill>
        </p:spPr>
      </p:sp>
      <p:sp>
        <p:nvSpPr>
          <p:cNvPr id="26" name="Text 24"/>
          <p:cNvSpPr/>
          <p:nvPr/>
        </p:nvSpPr>
        <p:spPr>
          <a:xfrm>
            <a:off x="502920" y="32461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歧视-低危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24612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38728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502920" y="353872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无关-无风险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353872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14173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 条变体策略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78308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34" name="Text 32"/>
          <p:cNvSpPr/>
          <p:nvPr/>
        </p:nvSpPr>
        <p:spPr>
          <a:xfrm>
            <a:off x="4800600" y="1783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同义改写 paraphrase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26680" y="1783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测语言鲁棒性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9456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19456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39" name="Text 37"/>
          <p:cNvSpPr/>
          <p:nvPr/>
        </p:nvSpPr>
        <p:spPr>
          <a:xfrm>
            <a:off x="4800600" y="2194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细节扰动 perturb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23760" y="21945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26680" y="2194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测是否过拟合表面词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6060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60604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44" name="Text 42"/>
          <p:cNvSpPr/>
          <p:nvPr/>
        </p:nvSpPr>
        <p:spPr>
          <a:xfrm>
            <a:off x="4800600" y="2606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干扰句 distract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0" y="26060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26680" y="26060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测聚焦能力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01752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01752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49" name="Text 47"/>
          <p:cNvSpPr/>
          <p:nvPr/>
        </p:nvSpPr>
        <p:spPr>
          <a:xfrm>
            <a:off x="4800600" y="30175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要件边界 boundary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23760" y="30175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26680" y="30175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 risk_level,测规则贴合度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42900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42900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54" name="Text 52"/>
          <p:cNvSpPr/>
          <p:nvPr/>
        </p:nvSpPr>
        <p:spPr>
          <a:xfrm>
            <a:off x="4800600" y="34290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长文本扩展 verbose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23760" y="34290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26680" y="34290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测自然篇幅稳定性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锚点分布:  </a:t>
            </a:r>
            <a:r>
              <a:rPr lang="en-US" sz="12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条真实判例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(含案号/法院/年份)  · </a:t>
            </a: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条法条明文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</a:t>
            </a: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 条规则派生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(低危/无关)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准确率数据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100 条锚定测试集上的实测表现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整体准确率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4114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XX%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365760" y="31089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95% 置信区间 ±7%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520440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🔴 高危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3520440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767328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🟠 中危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3767328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014216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🟡 低危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4014216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261104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🟢 无风险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4261104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0A4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14173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混淆矩阵 (行=期望 / 列=实际)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76672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86016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86016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低危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90688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0688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无风险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2402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76672" y="2240280"/>
            <a:ext cx="804672" cy="457200"/>
          </a:xfrm>
          <a:prstGeom prst="rect">
            <a:avLst/>
          </a:prstGeom>
          <a:solidFill>
            <a:srgbClr val="FDECEC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81344" y="22402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81344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986016" y="22402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86016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790688" y="22402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90688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0" y="26974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中危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76672" y="26974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81344" y="2697480"/>
            <a:ext cx="804672" cy="457200"/>
          </a:xfrm>
          <a:prstGeom prst="rect">
            <a:avLst/>
          </a:prstGeom>
          <a:solidFill>
            <a:srgbClr val="FFF1E7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81344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986016" y="26974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86016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790688" y="26974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90688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572000" y="31546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低危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76672" y="31546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76672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181344" y="31546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81344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986016" y="3154680"/>
            <a:ext cx="804672" cy="457200"/>
          </a:xfrm>
          <a:prstGeom prst="rect">
            <a:avLst/>
          </a:prstGeom>
          <a:solidFill>
            <a:srgbClr val="FFF8E6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86016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7790688" y="31546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90688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572000" y="36118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0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无风险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376672" y="36118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76672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181344" y="36118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81344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6986016" y="36118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86016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7790688" y="3611880"/>
            <a:ext cx="804672" cy="457200"/>
          </a:xfrm>
          <a:prstGeom prst="rect">
            <a:avLst/>
          </a:prstGeom>
          <a:solidFill>
            <a:srgbClr val="E9F7E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90688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A4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4572000" y="411480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 = 数据将在评测完成后填入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真实判例锚定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可以拿案号去裁判文书网核对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2926080"/>
          </a:xfrm>
          <a:prstGeom prst="rect">
            <a:avLst/>
          </a:prstGeom>
          <a:solidFill>
            <a:srgbClr val="F76808"/>
          </a:solidFill>
        </p:spPr>
      </p:sp>
      <p:sp>
        <p:nvSpPr>
          <p:cNvPr id="11" name="Text 9"/>
          <p:cNvSpPr/>
          <p:nvPr/>
        </p:nvSpPr>
        <p:spPr>
          <a:xfrm>
            <a:off x="502920" y="15544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🟠 中危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828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严女士 vs 某公司平等就业权纠纷案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上海市浦东新区人民法院 · 2023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78892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入职孕检 + 怀孕后撤回 offer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法院:就业歧视,缔约过失责任,赔 3 万余元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锚定测试集 D_real_1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46304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463040"/>
            <a:ext cx="45720" cy="2926080"/>
          </a:xfrm>
          <a:prstGeom prst="rect">
            <a:avLst/>
          </a:prstGeom>
          <a:solidFill>
            <a:srgbClr val="E5484D"/>
          </a:solidFill>
        </p:spPr>
      </p:sp>
      <p:sp>
        <p:nvSpPr>
          <p:cNvPr id="17" name="Text 15"/>
          <p:cNvSpPr/>
          <p:nvPr/>
        </p:nvSpPr>
        <p:spPr>
          <a:xfrm>
            <a:off x="3337560" y="15544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🔴 高危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1828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韩坤诉厦门翔鹭化纤股份有限公司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4688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(2009)厦民终字第 2188 号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78892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哺乳期内单位违法解除劳动合同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法院:判赔 39310 元(经济补偿 2 倍)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锚定测试集 D_real_2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46304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463040"/>
            <a:ext cx="45720" cy="2926080"/>
          </a:xfrm>
          <a:prstGeom prst="rect">
            <a:avLst/>
          </a:prstGeom>
          <a:solidFill>
            <a:srgbClr val="E5484D"/>
          </a:solidFill>
        </p:spPr>
      </p:sp>
      <p:sp>
        <p:nvSpPr>
          <p:cNvPr id="23" name="Text 21"/>
          <p:cNvSpPr/>
          <p:nvPr/>
        </p:nvSpPr>
        <p:spPr>
          <a:xfrm>
            <a:off x="6172200" y="15544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🔴 高危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828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周某强制猥亵案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246888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芜湖镜湖区检察院 · 2023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278892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利用求职职权 + 言语威胁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检察:强制猥亵罪,有期徒刑 6 个月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锚定测试集 H_real_1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每条测试用例的 anchor 字段都公开在 eval/test_set.json,欢迎逐条核查。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现场演示 · 婚育询问案例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从输入到 5 秒内拿到红橙绿等级报告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08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291840" cy="91440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7452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"面试时 HR 问我打算什么时候结婚生孩子"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 实测 5 秒内返回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1E7"/>
          </a:solidFill>
          <a:ln w="12700">
            <a:solidFill>
              <a:srgbClr val="F768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461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680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🟠 中危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涉嫌面试环节询问婚育状况的就业歧视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1417320"/>
            <a:ext cx="45720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417320"/>
            <a:ext cx="45720" cy="32004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9" name="Text 17"/>
          <p:cNvSpPr/>
          <p:nvPr/>
        </p:nvSpPr>
        <p:spPr>
          <a:xfrm>
            <a:off x="4434840" y="15087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报告卡同屏呈现 6 块内容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1874520"/>
            <a:ext cx="4434840" cy="269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🎯 风险标(红/橙/黄/绿)+ 一句话总结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💬 温暖叙事 narrative(共情 + 法律解释)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三档话术(委婉/坚定/正式)+ 一键复制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⚖️ 法条引用(妇权法第43条) + 得理徽标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📁 相似判例卡(法院/案号/裁判要点)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🔍 可折叠"判定依据"(要件状态)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526280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TODO:这一页插入真实演示页面截图(替换左右两个占位卡)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评委预期质疑 · 提前回应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主动把球接住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17320"/>
            <a:ext cx="45720" cy="6858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1" name="Text 9"/>
          <p:cNvSpPr/>
          <p:nvPr/>
        </p:nvSpPr>
        <p:spPr>
          <a:xfrm>
            <a:off x="502920" y="141732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1472184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"得理 API 空声明"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1417320"/>
            <a:ext cx="274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1472184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架构图(P5)展示节点位置;工作流(P6)可见两路并行检索;法条卡片右上有"得理"徽标。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194560"/>
            <a:ext cx="45720" cy="6858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7" name="Text 15"/>
          <p:cNvSpPr/>
          <p:nvPr/>
        </p:nvSpPr>
        <p:spPr>
          <a:xfrm>
            <a:off x="502920" y="219456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2249424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"技术深度不足"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2194560"/>
            <a:ext cx="274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977640" y="2249424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要件式判定 + 代码节点确定性映射 + 100 条锚定测试集 + 95% 置信区间。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71800"/>
            <a:ext cx="45720" cy="6858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3" name="Text 21"/>
          <p:cNvSpPr/>
          <p:nvPr/>
        </p:nvSpPr>
        <p:spPr>
          <a:xfrm>
            <a:off x="502920" y="297180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📑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97280" y="3026664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"测试集准确性凭什么?"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2971800"/>
            <a:ext cx="274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77640" y="3026664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条直接挂真实判例(含案号),公开在仓库 eval/test_set.json,评委可逐条核查。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84124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749040"/>
            <a:ext cx="45720" cy="6858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9" name="Text 27"/>
          <p:cNvSpPr/>
          <p:nvPr/>
        </p:nvSpPr>
        <p:spPr>
          <a:xfrm>
            <a:off x="502920" y="3749040"/>
            <a:ext cx="548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97280" y="3803904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"AI 误判怎么办?"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3749040"/>
            <a:ext cx="274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977640" y="3803904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召回优先门控 + 用户一键强制深度分析,即使算法犯错,用户仍有发言权。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55371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"我们想过了。"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社会价值 · 降低三道门槛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让每一个"本该沉默的瞬间",都有回应的能力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201168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1" name="Text 9"/>
          <p:cNvSpPr/>
          <p:nvPr/>
        </p:nvSpPr>
        <p:spPr>
          <a:xfrm>
            <a:off x="365760" y="16002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🧠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心理门槛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情绪承接 + 共鸣社区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让用户不再孤单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63040"/>
            <a:ext cx="45720" cy="2011680"/>
          </a:xfrm>
          <a:prstGeom prst="rect">
            <a:avLst/>
          </a:prstGeom>
          <a:solidFill>
            <a:srgbClr val="7B5DC4"/>
          </a:solidFill>
        </p:spPr>
      </p:sp>
      <p:sp>
        <p:nvSpPr>
          <p:cNvPr id="16" name="Text 14"/>
          <p:cNvSpPr/>
          <p:nvPr/>
        </p:nvSpPr>
        <p:spPr>
          <a:xfrm>
            <a:off x="3200400" y="16002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📚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200400" y="2194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信息门槛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260604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法条白话 + 权利清单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让用户看清规则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463040"/>
            <a:ext cx="45720" cy="2011680"/>
          </a:xfrm>
          <a:prstGeom prst="rect">
            <a:avLst/>
          </a:prstGeom>
          <a:solidFill>
            <a:srgbClr val="E8B4B8"/>
          </a:solidFill>
        </p:spPr>
      </p:sp>
      <p:sp>
        <p:nvSpPr>
          <p:cNvPr id="21" name="Text 19"/>
          <p:cNvSpPr/>
          <p:nvPr/>
        </p:nvSpPr>
        <p:spPr>
          <a:xfrm>
            <a:off x="6035040" y="16002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🔧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035040" y="2194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技术门槛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72200" y="260604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操作级取证指导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让用户会取证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8412480" cy="96012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947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让更多女性 </a:t>
            </a:r>
            <a:r>
              <a:rPr lang="en-US" sz="20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从</a:t>
            </a:r>
            <a:r>
              <a:rPr lang="en-US" sz="2000" i="1" dirty="0">
                <a:solidFill>
                  <a:srgbClr val="9999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"算了吧"</a:t>
            </a:r>
            <a:r>
              <a:rPr lang="en-US" sz="20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  →  </a:t>
            </a:r>
            <a:r>
              <a:rPr lang="en-US" sz="2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"我知道该怎么做了"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技术是理性的,但使用技术的人是有温度的。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 · 第十七届中国大学生服务外包大赛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致谢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感谢一路给力的人、平台与判例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🛠 工具与平台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4114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腾讯元器 — 5 大智能体编排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得理开放平台 — 法规与类案 API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CloudBase — 后端代理与社区存储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CodeBuddy — 辅助开发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508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⚖️ 判例与机构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4114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最高人民法院典型案例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各级人民法院判决书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检察机关发布典型案件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全国妇联 / 人社部相关数据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她说了算队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TODO:成员姓名 / 分工 / 联系方式 / 项目仓库地址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5D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9370DB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3657600"/>
            <a:ext cx="4572000" cy="4572000"/>
          </a:xfrm>
          <a:prstGeom prst="ellipse">
            <a:avLst/>
          </a:prstGeom>
          <a:solidFill>
            <a:srgbClr val="E8B4B8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0" y="1463040"/>
            <a:ext cx="91440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kern="0" spc="2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Q &amp; A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期待您的提问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 · 她盾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3235</Words>
  <Application>WPS 演示</Application>
  <PresentationFormat>On-screen Show (16:9)</PresentationFormat>
  <Paragraphs>695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微软雅黑</vt:lpstr>
      <vt:lpstr>宋体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她盾 答辩 PPT</dc:title>
  <dc:creator>她说了算队</dc:creator>
  <dc:subject>职场女性权益守护智能体</dc:subject>
  <cp:lastModifiedBy>Sakura.</cp:lastModifiedBy>
  <cp:revision>2</cp:revision>
  <dcterms:created xsi:type="dcterms:W3CDTF">2026-05-31T14:44:00Z</dcterms:created>
  <dcterms:modified xsi:type="dcterms:W3CDTF">2026-05-31T23:28:50Z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01707DCA2B4E430D9896E986ACBFE96B_12</vt:lpwstr>
  </property>
</Properties>
</file>