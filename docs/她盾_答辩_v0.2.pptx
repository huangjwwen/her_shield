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370DB"/>
              </a:solidFill>
              <a:effectLst/>
            </c:spPr>
          </c:dPt>
          <c:dPt>
            <c:idx val="1"/>
            <c:bubble3D val="0"/>
            <c:spPr>
              <a:solidFill>
                <a:srgbClr val="EAE3F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正确</c:v>
                </c:pt>
                <c:pt idx="1">
                  <c:v>错误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85</c:v>
                </c:pt>
                <c:pt idx="1">
                  <c:v>15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DFBFB"/>
    </a:solidFill>
    <a:ln w="12700" cap="flat">
      <a:solidFill>
        <a:srgbClr val="FDFBFB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389120" cy="4389120"/>
          </a:xfrm>
          <a:prstGeom prst="ellipse">
            <a:avLst/>
          </a:prstGeom>
          <a:solidFill>
            <a:srgbClr val="E8B4B8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2926080"/>
            <a:ext cx="5029200" cy="50292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91840" y="3474720"/>
            <a:ext cx="4572000" cy="4572000"/>
          </a:xfrm>
          <a:prstGeom prst="ellipse">
            <a:avLst/>
          </a:prstGeom>
          <a:solidFill>
            <a:srgbClr val="FFFFFF">
              <a:alpha val="0"/>
            </a:srgbClr>
          </a:solidFill>
          <a:ln w="7620">
            <a:solidFill>
              <a:srgbClr val="9370DB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3520440" cy="3520440"/>
          </a:xfrm>
          <a:prstGeom prst="ellipse">
            <a:avLst/>
          </a:prstGeom>
          <a:solidFill>
            <a:srgbClr val="FFFFFF">
              <a:alpha val="70000"/>
            </a:srgbClr>
          </a:solidFill>
          <a:ln/>
        </p:spPr>
      </p:sp>
      <p:pic>
        <p:nvPicPr>
          <p:cNvPr id="6" name="Image 0" descr="D:\tad-sheild\her_shield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5840"/>
            <a:ext cx="324612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6052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160520" y="2788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300" kern="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职场女性权益守护智能体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160520" y="3383280"/>
            <a:ext cx="640080" cy="0"/>
          </a:xfrm>
          <a:prstGeom prst="line">
            <a:avLst/>
          </a:prstGeom>
          <a:noFill/>
          <a:ln w="44450">
            <a:solidFill>
              <a:srgbClr val="E8B4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3520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"你的身后,站着一个懂法更懂你的「她」"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6350">
            <a:solidFill>
              <a:srgbClr val="B8A9E0">
                <a:alpha val="6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480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 · 她说了算队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38912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第十七届中国大学生服务外包大赛 · 腾讯开悟全球 AI 公开赛 D06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89120" y="4736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一条断裂的链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在每一个被沉默的瞬间,究竟卡在哪一环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60.9%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求职女性被询问婚育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智联招聘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&lt; 30%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33756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职场性别歧视案胜诉率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中国裁判文书网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7%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17220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性骚扰受害者选择报警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全国妇联统计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五层用户困境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640080" cy="640080"/>
          </a:xfrm>
          <a:prstGeom prst="ellipse">
            <a:avLst/>
          </a:prstGeom>
          <a:solidFill>
            <a:srgbClr val="CCC8D8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不知违法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57400" y="3520440"/>
            <a:ext cx="640080" cy="640080"/>
          </a:xfrm>
          <a:prstGeom prst="ellipse">
            <a:avLst/>
          </a:prstGeom>
          <a:solidFill>
            <a:srgbClr val="B8A9E0"/>
          </a:solidFill>
          <a:ln/>
        </p:spPr>
      </p:sp>
      <p:sp>
        <p:nvSpPr>
          <p:cNvPr id="30" name="Text 28"/>
          <p:cNvSpPr/>
          <p:nvPr/>
        </p:nvSpPr>
        <p:spPr>
          <a:xfrm>
            <a:off x="20574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74320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不知找谁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4904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37490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3484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34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不会取证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8" name="Text 3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12648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不敢维权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32320" y="3520440"/>
            <a:ext cx="640080" cy="640080"/>
          </a:xfrm>
          <a:prstGeom prst="ellipse">
            <a:avLst/>
          </a:prstGeom>
          <a:solidFill>
            <a:srgbClr val="7B5DC4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81812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1812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孤立无援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我们要做的,是把这条断裂链重新接上。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差异化定位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法律深度 × 情感支持 — 她盾占据独家象限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0" y="1417320"/>
            <a:ext cx="2560320" cy="1508760"/>
          </a:xfrm>
          <a:prstGeom prst="rect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2926080"/>
            <a:ext cx="5120640" cy="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1417320"/>
            <a:ext cx="0" cy="301752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776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2084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法律专业深度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062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情感支持 / 低门槛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67528" y="363016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0" y="39136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通用法律咨询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4160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律图/找法网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32888" y="216712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20" name="Text 18"/>
          <p:cNvSpPr/>
          <p:nvPr/>
        </p:nvSpPr>
        <p:spPr>
          <a:xfrm>
            <a:off x="1645920" y="2450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女性社区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26974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小红书/豆瓣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44568" y="3995928"/>
            <a:ext cx="237744" cy="237744"/>
          </a:xfrm>
          <a:prstGeom prst="ellipse">
            <a:avLst/>
          </a:prstGeom>
          <a:solidFill>
            <a:srgbClr val="B0B0B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传统法律援助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45262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妇联/援助中心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138928" y="1755648"/>
            <a:ext cx="329184" cy="329184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3480" y="1600200"/>
            <a:ext cx="640080" cy="64008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297680" y="2084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97680" y="23317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本作品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1874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唯一占据"专业 + 温度"双高象限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303520" y="1920240"/>
            <a:ext cx="1417320" cy="137160"/>
          </a:xfrm>
          <a:prstGeom prst="line">
            <a:avLst/>
          </a:prstGeom>
          <a:noFill/>
          <a:ln w="12700">
            <a:solidFill>
              <a:srgbClr val="9370DB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我们既能判断,也能陪伴;既给答案,也给支撑。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六大智能体矩阵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一句话承诺 · 一一对应五层困境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2103120"/>
            <a:ext cx="1828800" cy="18288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886200" y="2331720"/>
            <a:ext cx="1371600" cy="1371600"/>
          </a:xfrm>
          <a:prstGeom prst="ellipse">
            <a:avLst/>
          </a:prstGeom>
          <a:solidFill>
            <a:srgbClr val="7B5DC4"/>
          </a:solidFill>
          <a:ln/>
        </p:spPr>
      </p:sp>
      <p:sp>
        <p:nvSpPr>
          <p:cNvPr id="11" name="Text 9"/>
          <p:cNvSpPr/>
          <p:nvPr/>
        </p:nvSpPr>
        <p:spPr>
          <a:xfrm>
            <a:off x="3886200" y="2514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886200" y="3108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0" cy="-219456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383280" y="34290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83280" y="342900"/>
            <a:ext cx="45720" cy="96012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66360" y="41605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166360" y="4160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11296" y="4160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她眼·言行雷达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11296" y="7269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"一句话告诉我,这事违法吗?"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17520"/>
            <a:ext cx="1900545" cy="-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283825" y="144018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83825" y="1440180"/>
            <a:ext cx="45720" cy="9601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066905" y="151333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066905" y="15133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11841" y="15133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她权·权益指南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1841" y="18242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"我现在有哪些权利?"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3017520"/>
            <a:ext cx="1900545" cy="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283825" y="363474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283825" y="3634740"/>
            <a:ext cx="45720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Shape 28"/>
          <p:cNvSpPr/>
          <p:nvPr/>
        </p:nvSpPr>
        <p:spPr>
          <a:xfrm>
            <a:off x="7066905" y="370789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066905" y="37078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11841" y="37078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她证·证据保全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11841" y="40187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"这些证据怎么留住才有效?"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3017520"/>
            <a:ext cx="0" cy="219456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383280" y="473202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383280" y="4732020"/>
            <a:ext cx="45720" cy="9601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7" name="Shape 35"/>
          <p:cNvSpPr/>
          <p:nvPr/>
        </p:nvSpPr>
        <p:spPr>
          <a:xfrm>
            <a:off x="5166360" y="480517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48051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11296" y="48051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她行·维权导航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511296" y="511606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"下一步我该做什么?"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017520"/>
            <a:ext cx="-1900545" cy="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482735" y="363474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482735" y="3634740"/>
            <a:ext cx="45720" cy="96012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44" name="Shape 42"/>
          <p:cNvSpPr/>
          <p:nvPr/>
        </p:nvSpPr>
        <p:spPr>
          <a:xfrm>
            <a:off x="3265815" y="370789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265815" y="37078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610751" y="37078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她心·情绪树洞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610751" y="40187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"今晚我想找个人说说话。"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0" y="3017520"/>
            <a:ext cx="-1900545" cy="-1097280"/>
          </a:xfrm>
          <a:prstGeom prst="line">
            <a:avLst/>
          </a:prstGeom>
          <a:noFill/>
          <a:ln w="12700">
            <a:solidFill>
              <a:srgbClr val="B8A9E0">
                <a:alpha val="60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482735" y="1440180"/>
            <a:ext cx="23774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76200" dist="12700" dir="8100000">
              <a:srgbClr val="9370DB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482735" y="1440180"/>
            <a:ext cx="45720" cy="96012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1" name="Shape 49"/>
          <p:cNvSpPr/>
          <p:nvPr/>
        </p:nvSpPr>
        <p:spPr>
          <a:xfrm>
            <a:off x="3265815" y="1513332"/>
            <a:ext cx="502920" cy="228600"/>
          </a:xfrm>
          <a:prstGeom prst="roundRect">
            <a:avLst>
              <a:gd name="adj" fmla="val 48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3265815" y="15133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610751" y="15133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她声·共鸣回响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610751" y="18242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"原来不只我一个人这样。"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端到端技术架构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从前端到 AI 到法律知识源,得理 API 在哪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8A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前端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Pages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HTML5 + Vanilla 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572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51760" y="1920240"/>
            <a:ext cx="1920240" cy="731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CloudBase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代理 + 缓存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密钥下沉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同问同答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9028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920240"/>
            <a:ext cx="1920240" cy="73152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腾讯元器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 大智能体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8484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0" y="1920240"/>
            <a:ext cx="1920240" cy="1280160"/>
          </a:xfrm>
          <a:prstGeom prst="rect">
            <a:avLst/>
          </a:prstGeom>
          <a:solidFill>
            <a:srgbClr val="F5F0FF"/>
          </a:solidFill>
          <a:ln w="31750">
            <a:solidFill>
              <a:srgbClr val="E8B4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0" y="1920240"/>
            <a:ext cx="1920240" cy="73152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得理开放平台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法规检索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类案匹配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1691640"/>
            <a:ext cx="320040" cy="320040"/>
          </a:xfrm>
          <a:prstGeom prst="ellipse">
            <a:avLst/>
          </a:prstGeom>
          <a:solidFill>
            <a:srgbClr val="E8B4B8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611880"/>
            <a:ext cx="45720" cy="1005840"/>
          </a:xfrm>
          <a:prstGeom prst="rect">
            <a:avLst/>
          </a:prstGeom>
          <a:solidFill>
            <a:srgbClr val="B0B0B0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通用大模型(如 ChatGPT)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436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可能伪造案号 / 编造法条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黑盒判定,不可追溯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611880"/>
            <a:ext cx="4023360" cy="1005840"/>
          </a:xfrm>
          <a:prstGeom prst="rect">
            <a:avLst/>
          </a:prstGeom>
          <a:solidFill>
            <a:srgbClr val="F5F0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3611880"/>
            <a:ext cx="45720" cy="10058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 + 工作流编排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0060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真实判例锚定 — 可查裁判文书网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代码节点确定性映射 — 同问同答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言行雷达 — 工作流深度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为什么"同问同答":等级由规则裁定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508760"/>
            <a:ext cx="162763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508760"/>
            <a:ext cx="45720" cy="12801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5727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1901952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门控判断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沾边即放行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20824" y="1508760"/>
            <a:ext cx="162763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20824" y="1508760"/>
            <a:ext cx="45720" cy="12801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6" name="Text 14"/>
          <p:cNvSpPr/>
          <p:nvPr/>
        </p:nvSpPr>
        <p:spPr>
          <a:xfrm>
            <a:off x="2157984" y="15727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157984" y="1901952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案情要素抽取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57984" y="237744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类型/要件/严重度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21608" y="1508760"/>
            <a:ext cx="162763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1608" y="1508760"/>
            <a:ext cx="45720" cy="12801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1" name="Text 19"/>
          <p:cNvSpPr/>
          <p:nvPr/>
        </p:nvSpPr>
        <p:spPr>
          <a:xfrm>
            <a:off x="3858768" y="15727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58768" y="1901952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法规 + 类案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并行检索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58768" y="237744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两路并发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22392" y="1508760"/>
            <a:ext cx="162763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22392" y="1508760"/>
            <a:ext cx="45720" cy="12801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6" name="Text 24"/>
          <p:cNvSpPr/>
          <p:nvPr/>
        </p:nvSpPr>
        <p:spPr>
          <a:xfrm>
            <a:off x="5559552" y="15727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④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59552" y="1901952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要件式判定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237744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 输出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结构化字段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23176" y="1508760"/>
            <a:ext cx="1627632" cy="1280160"/>
          </a:xfrm>
          <a:prstGeom prst="rect">
            <a:avLst/>
          </a:prstGeom>
          <a:solidFill>
            <a:srgbClr val="7B5DC4"/>
          </a:solidFill>
          <a:ln w="12700">
            <a:solidFill>
              <a:srgbClr val="7B5D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0336" y="15727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4B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⑤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260336" y="1901952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代码节点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确定性映射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60336" y="237744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ADC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规则引擎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DC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出风险等级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929384" y="201168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30168" y="201168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30952" y="201168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31736" y="201168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以"HR 问我打算什么时候生孩子" 为例 →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1627632" cy="5029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28269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涉及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3493008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门控放行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066544" y="3246120"/>
            <a:ext cx="1627632" cy="5029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57984" y="328269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要素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57984" y="3493008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[婚育询问 / 招聘环节]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67328" y="3246120"/>
            <a:ext cx="1627632" cy="5029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58768" y="328269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检索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858768" y="3493008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妇权法43条 + 严女士案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68112" y="3246120"/>
            <a:ext cx="1627632" cy="5029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59552" y="328269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要件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59552" y="3493008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3要件满足 / 无加重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168896" y="3246120"/>
            <a:ext cx="1627632" cy="502920"/>
          </a:xfrm>
          <a:prstGeom prst="rect">
            <a:avLst/>
          </a:prstGeom>
          <a:solidFill>
            <a:srgbClr val="FFF1E7"/>
          </a:solidFill>
          <a:ln w="6350">
            <a:solidFill>
              <a:srgbClr val="F7680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3282696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映射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60336" y="3493008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 元器工作流后台截图占位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4206240"/>
            <a:ext cx="26517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8A9E0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36576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节点展开图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200400" y="4206240"/>
            <a:ext cx="26517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8A9E0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320040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代码节点逻辑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035040" y="4206240"/>
            <a:ext cx="26517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8A9E0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603504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输入/输出示例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可解释的风险分级 + 反误判机制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规则透明 · 用户最终发言权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4389120" cy="502920"/>
          </a:xfrm>
          <a:prstGeom prst="rect">
            <a:avLst/>
          </a:prstGeom>
          <a:solidFill>
            <a:srgbClr val="FDECEC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17320"/>
            <a:ext cx="64008" cy="50292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32688" y="1417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高危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 + 实质后果/制度性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965960"/>
            <a:ext cx="4389120" cy="502920"/>
          </a:xfrm>
          <a:prstGeom prst="rect">
            <a:avLst/>
          </a:prstGeom>
          <a:solidFill>
            <a:srgbClr val="FFF1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1965960"/>
            <a:ext cx="64008" cy="50292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9659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19659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中危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关键要件满足或存在存疑项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14600"/>
            <a:ext cx="4389120" cy="502920"/>
          </a:xfrm>
          <a:prstGeom prst="rect">
            <a:avLst/>
          </a:prstGeom>
          <a:solidFill>
            <a:srgbClr val="FFF8E6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2514600"/>
            <a:ext cx="64008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1460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" y="2514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低危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关键要件满足但其余多缺失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063240"/>
            <a:ext cx="4389120" cy="502920"/>
          </a:xfrm>
          <a:prstGeom prst="rect">
            <a:avLst/>
          </a:prstGeom>
          <a:solidFill>
            <a:srgbClr val="E9F7EF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063240"/>
            <a:ext cx="64008" cy="502920"/>
          </a:xfrm>
          <a:prstGeom prst="rect">
            <a:avLst/>
          </a:prstGeom>
          <a:solidFill>
            <a:srgbClr val="30A46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0632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2688" y="30632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无风险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关键要件均不满足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0" y="1417320"/>
            <a:ext cx="374904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417320"/>
            <a:ext cx="45720" cy="26974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31" name="Shape 29"/>
          <p:cNvSpPr/>
          <p:nvPr/>
        </p:nvSpPr>
        <p:spPr>
          <a:xfrm>
            <a:off x="5166360" y="1527048"/>
            <a:ext cx="329184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370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↻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57784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反误判机制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166360" y="18745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被门控判"不涉及"时,用户可一键触发深度分析,跳过门控直接进入要件式评估。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03520" y="269748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9370DB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强制深度分析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0352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 即使算法犯错,用户也有发言权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召回优先 · 存疑往上判 · 用户可推翻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 条测试集 · 方法学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精标 + 50 变体 · 17 条挂真实判例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条精标分类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骚扰-高危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75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075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68296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骚扰-低危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3682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660904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6609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歧视-高危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953512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535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歧视-中危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29535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246120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歧视-低危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538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无关-无风险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5387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条变体策略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78308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同义改写 paraphrase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26680" y="1783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测语言鲁棒性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3440" y="219456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细节扰动 perturb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22376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26680" y="21945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测是否过拟合表面词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260604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4" name="Text 42"/>
          <p:cNvSpPr/>
          <p:nvPr/>
        </p:nvSpPr>
        <p:spPr>
          <a:xfrm>
            <a:off x="48006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干扰句 distract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22376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72668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测聚焦能力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301752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3440" y="301752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9" name="Text 47"/>
          <p:cNvSpPr/>
          <p:nvPr/>
        </p:nvSpPr>
        <p:spPr>
          <a:xfrm>
            <a:off x="480060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要件边界 boundary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22376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726680" y="30175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risk_level,测规则贴合度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63440" y="342900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342900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4" name="Text 52"/>
          <p:cNvSpPr/>
          <p:nvPr/>
        </p:nvSpPr>
        <p:spPr>
          <a:xfrm>
            <a:off x="4800600" y="3429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长文本扩展 verbose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237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26680" y="3429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测自然篇幅稳定性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锚点分布:  </a:t>
            </a:r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条真实判例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(含案号/法院/年份)  · </a:t>
            </a:r>
            <a:pPr algn="ct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条法条明文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· </a:t>
            </a:r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条规则派生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(低危/无关)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准确率数据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100 条锚定测试集上的实测表现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整体准确率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40080" y="1828800"/>
          <a:ext cx="35661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640080" y="24231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XX%</a:t>
            </a:r>
            <a:endParaRPr lang="en-US" sz="5600" dirty="0"/>
          </a:p>
        </p:txBody>
      </p:sp>
      <p:sp>
        <p:nvSpPr>
          <p:cNvPr id="12" name="Text 9"/>
          <p:cNvSpPr/>
          <p:nvPr/>
        </p:nvSpPr>
        <p:spPr>
          <a:xfrm>
            <a:off x="64008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95% CI ±7%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5760" y="35204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011680" y="3520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5760" y="376732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011680" y="37673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5760" y="401421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🟡 低危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011680" y="40142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65760" y="4261104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🟢 无风险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011680" y="42611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 (行=期望 / 列=实际)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solidFill>
            <a:srgbClr val="FDECEC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solidFill>
            <a:srgbClr val="FFF1E7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8" name="Shape 55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solidFill>
            <a:srgbClr val="FFF8E6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60" name="Shape 57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6" name="Shape 63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70" name="Shape 67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solidFill>
            <a:srgbClr val="E9F7E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4572000" y="41148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 = 数据将在评测完成后填入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真实判例锚定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可以拿案号去裁判文书网核对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92608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严女士 vs 某公司平等就业权纠纷案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上海市浦东新区人民法院 · 2023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入职孕检 + 怀孕后撤回 offer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法院:就业歧视,缔约过失责任,赔 3 万余元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333756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韩坤诉厦门翔鹭化纤股份有限公司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37560" y="2468880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(2009)厦民终字第 2188 号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375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哺乳期内单位违法解除劳动合同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法院:判赔 39310 元(经济补偿 2 倍)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3504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7220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周某强制猥亵案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2468880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芜湖镜湖区检察院 · 2023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7220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利用求职职权 + 言语威胁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检察:强制猥亵罪,有期徒刑 6 个月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H_real_1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每条测试用例的 anchor 字段都公开在 eval/test_set.json,欢迎逐条核查。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 · 婚育询问案例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从输入到 5 秒内拿到红橙绿等级报告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36576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1828800"/>
            <a:ext cx="3291840" cy="91440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874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"面试时 HR 问我打算什么时候结婚生孩子"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↓ 实测 5 秒内返回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32461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F1E7"/>
          </a:solidFill>
          <a:ln w="12700">
            <a:solidFill>
              <a:srgbClr val="F768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🟠 中危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3977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涉嫌面试环节询问婚育状况的就业歧视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1417320"/>
            <a:ext cx="45720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1417320"/>
            <a:ext cx="45720" cy="3200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9" name="Text 17"/>
          <p:cNvSpPr/>
          <p:nvPr/>
        </p:nvSpPr>
        <p:spPr>
          <a:xfrm>
            <a:off x="4434840" y="1508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报告卡同屏呈现 6 块内容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34840" y="1874520"/>
            <a:ext cx="44348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🎯 风险标(红/橙/黄/绿)+ 一句话总结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💬 温暖叙事 narrative(共情 + 法律解释)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📋 三档话术(委婉/坚定/正式)+ 一键复制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法条引用(妇权法第43条) + 得理徽标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📁 相似判例卡(法院/案号/裁判要点)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可折叠"判定依据"(要件状态)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1417320"/>
            <a:ext cx="45720" cy="3200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2" name="Shape 20"/>
          <p:cNvSpPr/>
          <p:nvPr/>
        </p:nvSpPr>
        <p:spPr>
          <a:xfrm>
            <a:off x="8823960" y="1417320"/>
            <a:ext cx="45720" cy="3200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0" y="150876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9370DB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✦ 得理 API 接入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TODO:此处替换为 GIF 录屏(用户输入 → 节点亮起 → 报告卡浮现,8-10 秒)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评委预期质疑 · 提前回应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主动把球接住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17320"/>
            <a:ext cx="45720" cy="5303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536192"/>
            <a:ext cx="292608" cy="292608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08760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145389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"得理 API 空声明"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11880" y="1536192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1508760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77640" y="14538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架构图(P5)展示节点;工作流(P6)可见两路并行检索;法条卡片"得理"徽标可见。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020824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020824"/>
            <a:ext cx="45720" cy="5303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139696"/>
            <a:ext cx="292608" cy="292608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11226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2057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"技术深度不足"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11880" y="2139696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3611880" y="2112264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77640" y="20574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 + 代码节点确定性映射 + 100 条锚定测试集 + 95% 置信区间。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2624328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624328"/>
            <a:ext cx="45720" cy="5303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2920" y="2743200"/>
            <a:ext cx="292608" cy="292608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71576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?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68680" y="266090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"为什么不直接用 ChatGPT?"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11880" y="274320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3611880" y="2715768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77640" y="26609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得理真实判例锚定(GPT 编案号) ② 代码节点确定性映射(GPT 黑盒) ③ 危机干预/三档话术等场景定制 GPT 没有。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227832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27832"/>
            <a:ext cx="45720" cy="5303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346704"/>
            <a:ext cx="292608" cy="292608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3319272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?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68680" y="326440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"测试集准确性凭什么?"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11880" y="3346704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9" name="Text 37"/>
          <p:cNvSpPr/>
          <p:nvPr/>
        </p:nvSpPr>
        <p:spPr>
          <a:xfrm>
            <a:off x="3611880" y="3319272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条直接挂真实判例(含案号),公开在仓库 eval/test_set.json,评委可逐条核查。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3831336"/>
            <a:ext cx="8412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31336"/>
            <a:ext cx="45720" cy="5303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920" y="3950208"/>
            <a:ext cx="292608" cy="292608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392277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?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68680" y="38679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"AI 误判怎么办?"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11880" y="3950208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Text 45"/>
          <p:cNvSpPr/>
          <p:nvPr/>
        </p:nvSpPr>
        <p:spPr>
          <a:xfrm>
            <a:off x="3611880" y="3922776"/>
            <a:ext cx="292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3977640" y="386791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召回优先门控 + 用户一键强制深度分析,即使算法犯错,用户仍有发言权。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"我们想过了。"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社会价值 · 降低三道门槛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让每一个"本该沉默的瞬间",都有回应的能力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01168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心理门槛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情绪承接 + 共鸣社区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让用户不再孤单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201168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320040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信息门槛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法条白话 + 权利清单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让用户看清规则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20116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🔧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03504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技术门槛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7220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操作级取证指导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让用户会取证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8412480" cy="9601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让更多女性 </a:t>
            </a:r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从</a:t>
            </a:r>
            <a:pPr algn="ctr" indent="0" marL="0">
              <a:buNone/>
            </a:pPr>
            <a:r>
              <a:rPr lang="en-US" sz="2000" i="1" dirty="0">
                <a:solidFill>
                  <a:srgbClr val="999999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"算了吧"</a:t>
            </a:r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 →  </a:t>
            </a:r>
            <a:pPr algn="ctr" indent="0" marL="0">
              <a:buNone/>
            </a:pPr>
            <a:r>
              <a:rPr lang="en-US" sz="2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"我知道该怎么做了"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— 技术是理性的,但使用技术的人是有温度的。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致谢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感谢一路给力的人、平台与判例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🛠 工具与平台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腾讯元器 — 5 大智能体编排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得理开放平台 — 法规与类案 API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CloudBase — 后端代理与社区存储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CodeBuddy — 辅助开发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判例与机构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最高人民法院典型案例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各级人民法院判决书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检察机关发布典型案件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 / 人社部相关数据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57600"/>
            <a:ext cx="8412480" cy="10058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7307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🌸 她说了算队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成员姓名 1 · 成员 2 · 成员 3(角色/分工)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GitHub: github.com/Huangjwwen/her_shield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60920" y="3749040"/>
            <a:ext cx="86868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937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37490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扫码看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4069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仓库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46520" y="42976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 二维码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7B5D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657600"/>
            <a:ext cx="4572000" cy="4572000"/>
          </a:xfrm>
          <a:prstGeom prst="ellipse">
            <a:avLst/>
          </a:prstGeom>
          <a:solidFill>
            <a:srgbClr val="E8B4B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2400" kern="0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Q &amp; A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期待您的提问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 · 她盾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她盾 答辩 PPT</dc:title>
  <dc:subject>职场女性权益守护智能体</dc:subject>
  <dc:creator>她说了算队</dc:creator>
  <cp:lastModifiedBy>她说了算队</cp:lastModifiedBy>
  <cp:revision>1</cp:revision>
  <dcterms:created xsi:type="dcterms:W3CDTF">2026-05-31T15:00:50Z</dcterms:created>
  <dcterms:modified xsi:type="dcterms:W3CDTF">2026-05-31T15:00:50Z</dcterms:modified>
</cp:coreProperties>
</file>