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9370DB"/>
              </a:solidFill>
              <a:effectLst/>
            </c:spPr>
          </c:dPt>
          <c:dPt>
            <c:idx val="1"/>
            <c:bubble3D val="0"/>
            <c:spPr>
              <a:solidFill>
                <a:srgbClr val="EAE3F5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1200" b="0" i="0" u="none" strike="noStrike" kern="1200" baseline="0">
                      <a:solidFill>
                        <a:srgbClr val="000000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正确</c:v>
                </c:pt>
                <c:pt idx="1">
                  <c:v>错误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15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02fa5b0-cca4-43ca-8fb1-302685571452}"/>
      </c:ext>
    </c:extLst>
  </c:chart>
  <c:spPr>
    <a:solidFill>
      <a:srgbClr val="FDFBFB"/>
    </a:solidFill>
    <a:ln w="12700" cap="flat">
      <a:solidFill>
        <a:srgbClr val="FDFBFB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4389120" cy="4389120"/>
          </a:xfrm>
          <a:prstGeom prst="ellipse">
            <a:avLst/>
          </a:prstGeom>
          <a:solidFill>
            <a:srgbClr val="E8B4B8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217920" y="2926080"/>
            <a:ext cx="5029200" cy="5029200"/>
          </a:xfrm>
          <a:prstGeom prst="ellipse">
            <a:avLst/>
          </a:prstGeom>
          <a:solidFill>
            <a:srgbClr val="B8A9E0">
              <a:alpha val="3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4933315" y="3940810"/>
            <a:ext cx="4572000" cy="4572000"/>
          </a:xfrm>
          <a:prstGeom prst="ellipse">
            <a:avLst/>
          </a:prstGeom>
          <a:solidFill>
            <a:srgbClr val="FFFFFF">
              <a:alpha val="0"/>
            </a:srgbClr>
          </a:solidFill>
          <a:ln w="7620">
            <a:solidFill>
              <a:srgbClr val="9370DB">
                <a:alpha val="30000"/>
              </a:srgbClr>
            </a:solidFill>
            <a:prstDash val="solid"/>
          </a:ln>
        </p:spPr>
      </p:sp>
      <p:pic>
        <p:nvPicPr>
          <p:cNvPr id="6" name="Image 0" descr="D:\tad-sheild\her_shield\logo.png"/>
          <p:cNvPicPr>
            <a:picLocks noChangeAspect="1"/>
          </p:cNvPicPr>
          <p:nvPr/>
        </p:nvPicPr>
        <p:blipFill>
          <a:blip r:embed="rId1">
            <a:lum contrast="12000"/>
          </a:blip>
          <a:stretch>
            <a:fillRect/>
          </a:stretch>
        </p:blipFill>
        <p:spPr>
          <a:xfrm>
            <a:off x="594360" y="1005840"/>
            <a:ext cx="3246120" cy="3246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0" y="9601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HER · SHIELD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062095" y="132588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她盾</a:t>
            </a:r>
            <a:endParaRPr lang="en-US" sz="11000" dirty="0"/>
          </a:p>
        </p:txBody>
      </p:sp>
      <p:sp>
        <p:nvSpPr>
          <p:cNvPr id="9" name="Text 6"/>
          <p:cNvSpPr/>
          <p:nvPr/>
        </p:nvSpPr>
        <p:spPr>
          <a:xfrm>
            <a:off x="4160520" y="27889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kern="0" spc="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职场女性权益守护智能体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160520" y="3383280"/>
            <a:ext cx="640080" cy="0"/>
          </a:xfrm>
          <a:prstGeom prst="line">
            <a:avLst/>
          </a:prstGeom>
          <a:noFill/>
          <a:ln w="44450">
            <a:solidFill>
              <a:srgbClr val="E8B4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60520" y="35204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"你的身后,站着一个懂法更懂你的「她」"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6350">
            <a:solidFill>
              <a:srgbClr val="B8A9E0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44805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 · 她说了算队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0" y="448056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第十七届中国大学生服务外包大赛 · 腾讯开悟全球 AI 公开赛 D06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0" y="4736592"/>
            <a:ext cx="44805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一条断裂的链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在每一个被沉默的瞬间,究竟卡在哪一环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50292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60.9%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求职女性被询问婚育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智联招聘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6" name="Text 14"/>
          <p:cNvSpPr/>
          <p:nvPr/>
        </p:nvSpPr>
        <p:spPr>
          <a:xfrm>
            <a:off x="333756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&lt; 30%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3756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职场性别歧视案胜诉率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中国裁判文书网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128016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1" name="Text 19"/>
          <p:cNvSpPr/>
          <p:nvPr/>
        </p:nvSpPr>
        <p:spPr>
          <a:xfrm>
            <a:off x="6172200" y="150876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7%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172200" y="214884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性骚扰受害者选择报警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423160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全国妇联统计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063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五层用户困境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520440"/>
            <a:ext cx="640080" cy="640080"/>
          </a:xfrm>
          <a:prstGeom prst="ellipse">
            <a:avLst/>
          </a:prstGeom>
          <a:solidFill>
            <a:srgbClr val="CCC8D8"/>
          </a:solidFill>
        </p:spPr>
      </p:sp>
      <p:sp>
        <p:nvSpPr>
          <p:cNvPr id="26" name="Text 24"/>
          <p:cNvSpPr/>
          <p:nvPr/>
        </p:nvSpPr>
        <p:spPr>
          <a:xfrm>
            <a:off x="36576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认知层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不知违法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57400" y="3520440"/>
            <a:ext cx="640080" cy="640080"/>
          </a:xfrm>
          <a:prstGeom prst="ellipse">
            <a:avLst/>
          </a:prstGeom>
          <a:solidFill>
            <a:srgbClr val="B8A9E0"/>
          </a:solidFill>
        </p:spPr>
      </p:sp>
      <p:sp>
        <p:nvSpPr>
          <p:cNvPr id="30" name="Text 28"/>
          <p:cNvSpPr/>
          <p:nvPr/>
        </p:nvSpPr>
        <p:spPr>
          <a:xfrm>
            <a:off x="205740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不知找谁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520440"/>
            <a:ext cx="640080" cy="640080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4" name="Text 32"/>
          <p:cNvSpPr/>
          <p:nvPr/>
        </p:nvSpPr>
        <p:spPr>
          <a:xfrm>
            <a:off x="374904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43484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不会取证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40680" y="3520440"/>
            <a:ext cx="640080" cy="640080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8" name="Text 36"/>
          <p:cNvSpPr/>
          <p:nvPr/>
        </p:nvSpPr>
        <p:spPr>
          <a:xfrm>
            <a:off x="544068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12648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12648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不敢维权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132320" y="3520440"/>
            <a:ext cx="640080" cy="640080"/>
          </a:xfrm>
          <a:prstGeom prst="ellipse">
            <a:avLst/>
          </a:prstGeom>
          <a:solidFill>
            <a:srgbClr val="7B5DC4"/>
          </a:solidFill>
        </p:spPr>
      </p:sp>
      <p:sp>
        <p:nvSpPr>
          <p:cNvPr id="42" name="Text 40"/>
          <p:cNvSpPr/>
          <p:nvPr/>
        </p:nvSpPr>
        <p:spPr>
          <a:xfrm>
            <a:off x="7132320" y="35204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818120" y="352044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归属层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8120" y="37764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孤立无援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我们要做的,是把这条断裂链重新接上。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差异化定位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法律深度 × 情感支持 — 她盾占据独家象限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2560320" cy="1508760"/>
          </a:xfrm>
          <a:prstGeom prst="rect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1554480" y="2926080"/>
            <a:ext cx="51206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1417320"/>
            <a:ext cx="0" cy="301752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7889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77640" y="1234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27889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法律专业深度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06240" y="1097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情感支持 / 低门槛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67528" y="3630168"/>
            <a:ext cx="237744" cy="237744"/>
          </a:xfrm>
          <a:prstGeom prst="ellipse">
            <a:avLst/>
          </a:prstGeom>
          <a:solidFill>
            <a:srgbClr val="B0B0B0"/>
          </a:solidFill>
        </p:spPr>
      </p:sp>
      <p:sp>
        <p:nvSpPr>
          <p:cNvPr id="17" name="Text 15"/>
          <p:cNvSpPr/>
          <p:nvPr/>
        </p:nvSpPr>
        <p:spPr>
          <a:xfrm>
            <a:off x="4480560" y="39136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通用法律咨询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41605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律图/找法网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32888" y="2167128"/>
            <a:ext cx="237744" cy="237744"/>
          </a:xfrm>
          <a:prstGeom prst="ellipse">
            <a:avLst/>
          </a:prstGeom>
          <a:solidFill>
            <a:srgbClr val="B0B0B0"/>
          </a:solidFill>
        </p:spPr>
      </p:sp>
      <p:sp>
        <p:nvSpPr>
          <p:cNvPr id="20" name="Text 18"/>
          <p:cNvSpPr/>
          <p:nvPr/>
        </p:nvSpPr>
        <p:spPr>
          <a:xfrm>
            <a:off x="1645920" y="24505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女性社区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269748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小红书/豆瓣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44568" y="3995928"/>
            <a:ext cx="237744" cy="237744"/>
          </a:xfrm>
          <a:prstGeom prst="ellipse">
            <a:avLst/>
          </a:prstGeom>
          <a:solidFill>
            <a:srgbClr val="B0B0B0"/>
          </a:solidFill>
        </p:spPr>
      </p:sp>
      <p:sp>
        <p:nvSpPr>
          <p:cNvPr id="23" name="Text 21"/>
          <p:cNvSpPr/>
          <p:nvPr/>
        </p:nvSpPr>
        <p:spPr>
          <a:xfrm>
            <a:off x="3657600" y="427939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传统法律援助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0" y="452628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妇联/援助中心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38928" y="1755648"/>
            <a:ext cx="329184" cy="329184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26" name="Shape 24"/>
          <p:cNvSpPr/>
          <p:nvPr/>
        </p:nvSpPr>
        <p:spPr>
          <a:xfrm>
            <a:off x="4983480" y="1600200"/>
            <a:ext cx="640080" cy="640080"/>
          </a:xfrm>
          <a:prstGeom prst="ellipse">
            <a:avLst/>
          </a:prstGeom>
          <a:solidFill>
            <a:srgbClr val="9370DB">
              <a:alpha val="30000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4297680" y="208483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她盾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2331720"/>
            <a:ext cx="20116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本作品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唯一占据"专业 + 温度"双高象限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03520" y="1920240"/>
            <a:ext cx="1417320" cy="137160"/>
          </a:xfrm>
          <a:prstGeom prst="line">
            <a:avLst/>
          </a:prstGeom>
          <a:noFill/>
          <a:ln w="12700">
            <a:solidFill>
              <a:srgbClr val="9370D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365760" y="4773295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我们既能判断,也能陪伴;既给答案,也给支撑。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六大智能体矩阵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一句话承诺 · 一一对应五层困境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103120"/>
            <a:ext cx="1828800" cy="1828800"/>
          </a:xfrm>
          <a:prstGeom prst="ellipse">
            <a:avLst/>
          </a:prstGeom>
          <a:solidFill>
            <a:srgbClr val="B8A9E0">
              <a:alpha val="3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3886200" y="2331720"/>
            <a:ext cx="1371600" cy="1371600"/>
          </a:xfrm>
          <a:prstGeom prst="ellipse">
            <a:avLst/>
          </a:prstGeom>
          <a:solidFill>
            <a:srgbClr val="7B5DC4"/>
          </a:solidFill>
        </p:spPr>
      </p:sp>
      <p:sp>
        <p:nvSpPr>
          <p:cNvPr id="11" name="Text 9"/>
          <p:cNvSpPr/>
          <p:nvPr/>
        </p:nvSpPr>
        <p:spPr>
          <a:xfrm>
            <a:off x="3886200" y="2514600"/>
            <a:ext cx="1371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她盾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886200" y="31089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SHE · SHIELD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0" cy="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383280" y="65786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683260"/>
            <a:ext cx="45720" cy="960120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16" name="Shape 14"/>
          <p:cNvSpPr/>
          <p:nvPr/>
        </p:nvSpPr>
        <p:spPr>
          <a:xfrm>
            <a:off x="5166360" y="73101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5166360" y="75641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11296" y="75641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她眼·言行雷达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11296" y="106730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"一句话告诉我,这事违法吗?"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92024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837545" y="158750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42625" y="1587500"/>
            <a:ext cx="45720" cy="9601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3" name="Shape 21"/>
          <p:cNvSpPr/>
          <p:nvPr/>
        </p:nvSpPr>
        <p:spPr>
          <a:xfrm>
            <a:off x="7620625" y="164541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7625705" y="16606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认知层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70641" y="166065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她权·权益指南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70641" y="197154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"我现在有哪些权利?"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01752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903585" y="321310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5903585" y="3213100"/>
            <a:ext cx="45720" cy="9601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0" name="Shape 28"/>
          <p:cNvSpPr/>
          <p:nvPr/>
        </p:nvSpPr>
        <p:spPr>
          <a:xfrm>
            <a:off x="7686665" y="3289427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7686665" y="328625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证据层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31865" y="3286125"/>
            <a:ext cx="122110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她证·证据保全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1865" y="3699510"/>
            <a:ext cx="1938020" cy="339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"这些证据怎么留住才有效?"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2880360"/>
            <a:ext cx="0" cy="219456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383280" y="411480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383280" y="4132580"/>
            <a:ext cx="45720" cy="96012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7" name="Shape 35"/>
          <p:cNvSpPr/>
          <p:nvPr/>
        </p:nvSpPr>
        <p:spPr>
          <a:xfrm>
            <a:off x="5166360" y="42057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5166360" y="4205732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行动层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11296" y="420573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她行·维权导航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11296" y="4516628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"下一步我该做什么?"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1455" y="301752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878215" y="32283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73135" y="3208020"/>
            <a:ext cx="45720" cy="96012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44" name="Shape 42"/>
          <p:cNvSpPr/>
          <p:nvPr/>
        </p:nvSpPr>
        <p:spPr>
          <a:xfrm>
            <a:off x="2661295" y="3291332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45" name="Text 43"/>
          <p:cNvSpPr/>
          <p:nvPr/>
        </p:nvSpPr>
        <p:spPr>
          <a:xfrm>
            <a:off x="2656215" y="3304667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情绪层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01151" y="326593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她心·情绪树洞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01395" y="3602355"/>
            <a:ext cx="16732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"今晚我想找个人说说话。"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71455" y="1920240"/>
            <a:ext cx="1900545" cy="1097280"/>
          </a:xfrm>
          <a:prstGeom prst="line">
            <a:avLst/>
          </a:prstGeom>
          <a:noFill/>
          <a:ln w="12700">
            <a:solidFill>
              <a:srgbClr val="B8A9E0">
                <a:alpha val="60000"/>
              </a:srgbClr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88375" y="1628140"/>
            <a:ext cx="23774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  <a:effectLst>
            <a:outerShdw blurRad="76200" dist="12700" dir="8100000" algn="bl" rotWithShape="0">
              <a:srgbClr val="9370DB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88375" y="1628140"/>
            <a:ext cx="45720" cy="96012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51" name="Shape 49"/>
          <p:cNvSpPr/>
          <p:nvPr/>
        </p:nvSpPr>
        <p:spPr>
          <a:xfrm>
            <a:off x="2656215" y="1728597"/>
            <a:ext cx="502920" cy="228600"/>
          </a:xfrm>
          <a:prstGeom prst="roundRect">
            <a:avLst>
              <a:gd name="adj" fmla="val 48000"/>
            </a:avLst>
          </a:prstGeom>
          <a:solidFill>
            <a:srgbClr val="E8B4B8">
              <a:alpha val="70000"/>
            </a:srgbClr>
          </a:solidFill>
        </p:spPr>
      </p:sp>
      <p:sp>
        <p:nvSpPr>
          <p:cNvPr id="52" name="Text 50"/>
          <p:cNvSpPr/>
          <p:nvPr/>
        </p:nvSpPr>
        <p:spPr>
          <a:xfrm>
            <a:off x="2656215" y="1733677"/>
            <a:ext cx="502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归属层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1001151" y="1724152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她声·共鸣回响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01151" y="1962023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"原来不只我一个人这样。"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端到端技术架构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从前端到 AI 到法律知识源,得理 API 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1920240" cy="73152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1" name="Text 9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前端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Pages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HTML5 + Vanilla JS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9572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5176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920240"/>
            <a:ext cx="1920240" cy="731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6" name="Text 14"/>
          <p:cNvSpPr/>
          <p:nvPr/>
        </p:nvSpPr>
        <p:spPr>
          <a:xfrm>
            <a:off x="274320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CloudBase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代理 + 缓存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密钥下沉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同问同答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9028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846320" y="1920240"/>
            <a:ext cx="1920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B5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20240"/>
            <a:ext cx="1920240" cy="73152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21" name="Text 19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腾讯元器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5 大智能体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工作流编排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84848" y="23317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040880" y="1920240"/>
            <a:ext cx="1920240" cy="1280160"/>
          </a:xfrm>
          <a:prstGeom prst="rect">
            <a:avLst/>
          </a:prstGeom>
          <a:solidFill>
            <a:srgbClr val="F5F0FF"/>
          </a:solidFill>
          <a:ln w="31750">
            <a:solidFill>
              <a:srgbClr val="E8B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40880" y="1920240"/>
            <a:ext cx="1920240" cy="73152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26" name="Text 24"/>
          <p:cNvSpPr/>
          <p:nvPr/>
        </p:nvSpPr>
        <p:spPr>
          <a:xfrm>
            <a:off x="7132320" y="210312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得理开放平台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265176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法规检索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类案匹配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1691640"/>
            <a:ext cx="320040" cy="320040"/>
          </a:xfrm>
          <a:prstGeom prst="ellipse">
            <a:avLst/>
          </a:prstGeom>
          <a:solidFill>
            <a:srgbClr val="E8B4B8"/>
          </a:solidFill>
        </p:spPr>
      </p:sp>
      <p:sp>
        <p:nvSpPr>
          <p:cNvPr id="29" name="Text 27"/>
          <p:cNvSpPr/>
          <p:nvPr/>
        </p:nvSpPr>
        <p:spPr>
          <a:xfrm>
            <a:off x="6766560" y="16916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4023360" cy="10058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611880"/>
            <a:ext cx="45720" cy="1005840"/>
          </a:xfrm>
          <a:prstGeom prst="rect">
            <a:avLst/>
          </a:prstGeom>
          <a:solidFill>
            <a:srgbClr val="B0B0B0"/>
          </a:solidFill>
        </p:spPr>
      </p:sp>
      <p:sp>
        <p:nvSpPr>
          <p:cNvPr id="32" name="Text 30"/>
          <p:cNvSpPr/>
          <p:nvPr/>
        </p:nvSpPr>
        <p:spPr>
          <a:xfrm>
            <a:off x="594360" y="3657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通用大模型(如 ChatGPT)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395020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可能伪造案号 / 编造法条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✗ 黑盒判定,不可追溯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611880"/>
            <a:ext cx="4023360" cy="1005840"/>
          </a:xfrm>
          <a:prstGeom prst="rect">
            <a:avLst/>
          </a:prstGeom>
          <a:solidFill>
            <a:srgbClr val="F5F0FF"/>
          </a:solidFill>
          <a:ln w="12700">
            <a:solidFill>
              <a:srgbClr val="9370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611880"/>
            <a:ext cx="45720" cy="100584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6" name="Text 34"/>
          <p:cNvSpPr/>
          <p:nvPr/>
        </p:nvSpPr>
        <p:spPr>
          <a:xfrm>
            <a:off x="4800600" y="36576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 API + 工作流编排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3950208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真实判例锚定 — 可查裁判文书网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 代码节点确定性映射 — 同问同答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言行雷达 — 工作流深度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为什么"同问同答":等级由规则裁定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16276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508760"/>
            <a:ext cx="45720" cy="12801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1" name="Text 9"/>
          <p:cNvSpPr/>
          <p:nvPr/>
        </p:nvSpPr>
        <p:spPr>
          <a:xfrm>
            <a:off x="457200" y="15727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190195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门控判断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召回优先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沾边即放行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20824" y="1508760"/>
            <a:ext cx="16276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20824" y="1508760"/>
            <a:ext cx="45720" cy="12801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16" name="Text 14"/>
          <p:cNvSpPr/>
          <p:nvPr/>
        </p:nvSpPr>
        <p:spPr>
          <a:xfrm>
            <a:off x="2157984" y="15727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157984" y="190195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案情要素抽取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57984" y="2377440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 JSON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类型/要件/严重度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21608" y="1508760"/>
            <a:ext cx="16276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1508760"/>
            <a:ext cx="45720" cy="12801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21" name="Text 19"/>
          <p:cNvSpPr/>
          <p:nvPr/>
        </p:nvSpPr>
        <p:spPr>
          <a:xfrm>
            <a:off x="3858768" y="15727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58768" y="190195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法规 + 类案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并行检索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58768" y="2377440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 API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两路并发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22392" y="1508760"/>
            <a:ext cx="16276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2392" y="1508760"/>
            <a:ext cx="45720" cy="12801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26" name="Text 24"/>
          <p:cNvSpPr/>
          <p:nvPr/>
        </p:nvSpPr>
        <p:spPr>
          <a:xfrm>
            <a:off x="5559552" y="15727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④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59552" y="190195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要件式判定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59552" y="2377440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输出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结构化字段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23176" y="1508760"/>
            <a:ext cx="1627632" cy="1280160"/>
          </a:xfrm>
          <a:prstGeom prst="rect">
            <a:avLst/>
          </a:prstGeom>
          <a:solidFill>
            <a:srgbClr val="7B5DC4"/>
          </a:solidFill>
          <a:ln w="12700">
            <a:solidFill>
              <a:srgbClr val="7B5D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0336" y="15727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B4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⑤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60336" y="1901952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代码节点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确定性映射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0336" y="2377440"/>
            <a:ext cx="13533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D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规则引擎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ADC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出风险等级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29384" y="20116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30168" y="20116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30952" y="20116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31736" y="2011680"/>
            <a:ext cx="10972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以"HR 问我打算什么时候生孩子" 为例 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1627632" cy="5029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282696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涉及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7200" y="3493008"/>
            <a:ext cx="144475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门控放行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066544" y="3246120"/>
            <a:ext cx="1627632" cy="5029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57984" y="3282696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要素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157984" y="3493008"/>
            <a:ext cx="144475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[婚育询问 / 招聘环节]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67328" y="3246120"/>
            <a:ext cx="1627632" cy="5029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58768" y="3282696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检索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58768" y="3493008"/>
            <a:ext cx="144475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妇权法43条 + 严女士案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68112" y="3246120"/>
            <a:ext cx="1627632" cy="5029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59552" y="3282696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要件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59552" y="3493008"/>
            <a:ext cx="144475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3要件满足 / 无加重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168896" y="3246120"/>
            <a:ext cx="1627632" cy="502920"/>
          </a:xfrm>
          <a:prstGeom prst="rect">
            <a:avLst/>
          </a:prstGeom>
          <a:solidFill>
            <a:srgbClr val="FFF1E7"/>
          </a:solidFill>
          <a:ln w="6350">
            <a:solidFill>
              <a:srgbClr val="F7680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0336" y="3282696"/>
            <a:ext cx="144475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映射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60336" y="3493008"/>
            <a:ext cx="144475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📷 元器工作流后台截图占位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206240"/>
            <a:ext cx="2651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8A9E0"/>
            </a:solidFill>
            <a:prstDash val="dash"/>
          </a:ln>
        </p:spPr>
      </p:sp>
      <p:sp>
        <p:nvSpPr>
          <p:cNvPr id="55" name="Text 53"/>
          <p:cNvSpPr/>
          <p:nvPr/>
        </p:nvSpPr>
        <p:spPr>
          <a:xfrm>
            <a:off x="365760" y="42062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 节点展开图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0" y="4206240"/>
            <a:ext cx="2651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8A9E0"/>
            </a:solidFill>
            <a:prstDash val="dash"/>
          </a:ln>
        </p:spPr>
      </p:sp>
      <p:sp>
        <p:nvSpPr>
          <p:cNvPr id="57" name="Text 55"/>
          <p:cNvSpPr/>
          <p:nvPr/>
        </p:nvSpPr>
        <p:spPr>
          <a:xfrm>
            <a:off x="3200400" y="42062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 代码节点逻辑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35040" y="4206240"/>
            <a:ext cx="26517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B8A9E0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6035040" y="4206240"/>
            <a:ext cx="26517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 输入/输出示例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可解释的风险分级 + 反误判机制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规则透明 · 用户最终发言权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4389120" cy="502920"/>
          </a:xfrm>
          <a:prstGeom prst="rect">
            <a:avLst/>
          </a:prstGeom>
          <a:solidFill>
            <a:srgbClr val="FDECEC"/>
          </a:solidFill>
        </p:spPr>
      </p:sp>
      <p:sp>
        <p:nvSpPr>
          <p:cNvPr id="10" name="Shape 8"/>
          <p:cNvSpPr/>
          <p:nvPr/>
        </p:nvSpPr>
        <p:spPr>
          <a:xfrm>
            <a:off x="365760" y="1417320"/>
            <a:ext cx="64008" cy="50292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11" name="Text 9"/>
          <p:cNvSpPr/>
          <p:nvPr/>
        </p:nvSpPr>
        <p:spPr>
          <a:xfrm>
            <a:off x="502920" y="141732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141732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484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高危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141732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 + 实质后果/制度性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4389120" cy="502920"/>
          </a:xfrm>
          <a:prstGeom prst="rect">
            <a:avLst/>
          </a:prstGeom>
          <a:solidFill>
            <a:srgbClr val="FFF1E7"/>
          </a:solidFill>
        </p:spPr>
      </p:sp>
      <p:sp>
        <p:nvSpPr>
          <p:cNvPr id="15" name="Shape 13"/>
          <p:cNvSpPr/>
          <p:nvPr/>
        </p:nvSpPr>
        <p:spPr>
          <a:xfrm>
            <a:off x="365760" y="1965960"/>
            <a:ext cx="64008" cy="502920"/>
          </a:xfrm>
          <a:prstGeom prst="rect">
            <a:avLst/>
          </a:prstGeom>
          <a:solidFill>
            <a:srgbClr val="F76808"/>
          </a:solidFill>
        </p:spPr>
      </p:sp>
      <p:sp>
        <p:nvSpPr>
          <p:cNvPr id="16" name="Text 14"/>
          <p:cNvSpPr/>
          <p:nvPr/>
        </p:nvSpPr>
        <p:spPr>
          <a:xfrm>
            <a:off x="502920" y="196596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🟠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32688" y="196596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7680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中危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00200" y="196596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关键要件满足或存在存疑项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14600"/>
            <a:ext cx="4389120" cy="502920"/>
          </a:xfrm>
          <a:prstGeom prst="rect">
            <a:avLst/>
          </a:prstGeom>
          <a:solidFill>
            <a:srgbClr val="FFF8E6"/>
          </a:solidFill>
        </p:spPr>
      </p:sp>
      <p:sp>
        <p:nvSpPr>
          <p:cNvPr id="20" name="Shape 18"/>
          <p:cNvSpPr/>
          <p:nvPr/>
        </p:nvSpPr>
        <p:spPr>
          <a:xfrm>
            <a:off x="365760" y="2514600"/>
            <a:ext cx="64008" cy="502920"/>
          </a:xfrm>
          <a:prstGeom prst="rect">
            <a:avLst/>
          </a:prstGeom>
          <a:solidFill>
            <a:srgbClr val="F5A623"/>
          </a:solidFill>
        </p:spPr>
      </p:sp>
      <p:sp>
        <p:nvSpPr>
          <p:cNvPr id="21" name="Text 19"/>
          <p:cNvSpPr/>
          <p:nvPr/>
        </p:nvSpPr>
        <p:spPr>
          <a:xfrm>
            <a:off x="502920" y="251460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251460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低危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251460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关键要件满足但其余多缺失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389120" cy="502920"/>
          </a:xfrm>
          <a:prstGeom prst="rect">
            <a:avLst/>
          </a:prstGeom>
          <a:solidFill>
            <a:srgbClr val="E9F7EF"/>
          </a:solidFill>
        </p:spPr>
      </p:sp>
      <p:sp>
        <p:nvSpPr>
          <p:cNvPr id="25" name="Shape 23"/>
          <p:cNvSpPr/>
          <p:nvPr/>
        </p:nvSpPr>
        <p:spPr>
          <a:xfrm>
            <a:off x="365760" y="3063240"/>
            <a:ext cx="64008" cy="502920"/>
          </a:xfrm>
          <a:prstGeom prst="rect">
            <a:avLst/>
          </a:prstGeom>
          <a:solidFill>
            <a:srgbClr val="30A46C"/>
          </a:solidFill>
        </p:spPr>
      </p:sp>
      <p:sp>
        <p:nvSpPr>
          <p:cNvPr id="26" name="Text 24"/>
          <p:cNvSpPr/>
          <p:nvPr/>
        </p:nvSpPr>
        <p:spPr>
          <a:xfrm>
            <a:off x="502920" y="3063240"/>
            <a:ext cx="411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063240"/>
            <a:ext cx="594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0A46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无风险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00200" y="3063240"/>
            <a:ext cx="3108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关键要件均不满足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1417320"/>
            <a:ext cx="374904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1417320"/>
            <a:ext cx="45720" cy="269748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31" name="Shape 29"/>
          <p:cNvSpPr/>
          <p:nvPr/>
        </p:nvSpPr>
        <p:spPr>
          <a:xfrm>
            <a:off x="5166360" y="1527048"/>
            <a:ext cx="329184" cy="32918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9370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1508760"/>
            <a:ext cx="32918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↻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577840" y="150876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反误判机制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66360" y="1874520"/>
            <a:ext cx="3520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被门控判"不涉及"时,用户可一键触发深度分析,跳过门控直接进入要件式评估。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303520" y="269748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9370DB"/>
          </a:solidFill>
        </p:spPr>
      </p:sp>
      <p:sp>
        <p:nvSpPr>
          <p:cNvPr id="36" name="Text 34"/>
          <p:cNvSpPr/>
          <p:nvPr/>
        </p:nvSpPr>
        <p:spPr>
          <a:xfrm>
            <a:off x="5303520" y="2697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强制深度分析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3375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 即使算法犯错,用户也有发言权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召回优先 · 存疑往上判 · 用户可推翻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100 条测试集 · 方法学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精标 + 50 变体 · 17 条挂真实判例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条精标分类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502920" y="178308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骚扰-高危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78308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075688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14" name="Text 12"/>
          <p:cNvSpPr/>
          <p:nvPr/>
        </p:nvSpPr>
        <p:spPr>
          <a:xfrm>
            <a:off x="502920" y="207568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骚扰-中危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07568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68296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502920" y="236829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骚扰-低危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368296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20" name="Text 18"/>
          <p:cNvSpPr/>
          <p:nvPr/>
        </p:nvSpPr>
        <p:spPr>
          <a:xfrm>
            <a:off x="502920" y="266090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歧视-高危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60904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953512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502920" y="295351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歧视-中危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0" y="2953512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4114800" cy="256032"/>
          </a:xfrm>
          <a:prstGeom prst="rect">
            <a:avLst/>
          </a:prstGeom>
          <a:solidFill>
            <a:srgbClr val="F5F0FF"/>
          </a:solidFill>
        </p:spPr>
      </p:sp>
      <p:sp>
        <p:nvSpPr>
          <p:cNvPr id="26" name="Text 24"/>
          <p:cNvSpPr/>
          <p:nvPr/>
        </p:nvSpPr>
        <p:spPr>
          <a:xfrm>
            <a:off x="502920" y="32461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歧视-低危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0" y="3246120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538728"/>
            <a:ext cx="4114800" cy="25603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502920" y="3538728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无关-无风险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3538728"/>
            <a:ext cx="822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141732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 条变体策略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78308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34" name="Text 32"/>
          <p:cNvSpPr/>
          <p:nvPr/>
        </p:nvSpPr>
        <p:spPr>
          <a:xfrm>
            <a:off x="4800600" y="17830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同义改写 paraphrase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23760" y="178308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726680" y="178308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测语言鲁棒性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9456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219456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39" name="Text 37"/>
          <p:cNvSpPr/>
          <p:nvPr/>
        </p:nvSpPr>
        <p:spPr>
          <a:xfrm>
            <a:off x="480060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细节扰动 perturb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23760" y="219456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26680" y="219456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测是否过拟合表面词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663440" y="260604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260604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44" name="Text 42"/>
          <p:cNvSpPr/>
          <p:nvPr/>
        </p:nvSpPr>
        <p:spPr>
          <a:xfrm>
            <a:off x="4800600" y="26060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干扰句 distract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260604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726680" y="260604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测聚焦能力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301752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1752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49" name="Text 47"/>
          <p:cNvSpPr/>
          <p:nvPr/>
        </p:nvSpPr>
        <p:spPr>
          <a:xfrm>
            <a:off x="4800600" y="30175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要件边界 boundary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223760" y="30175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26680" y="30175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改 risk_level,测规则贴合度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63440" y="3429000"/>
            <a:ext cx="4114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63440" y="3429000"/>
            <a:ext cx="45720" cy="365760"/>
          </a:xfrm>
          <a:prstGeom prst="rect">
            <a:avLst/>
          </a:prstGeom>
          <a:solidFill>
            <a:srgbClr val="B8A9E0"/>
          </a:solidFill>
        </p:spPr>
      </p:sp>
      <p:sp>
        <p:nvSpPr>
          <p:cNvPr id="54" name="Text 52"/>
          <p:cNvSpPr/>
          <p:nvPr/>
        </p:nvSpPr>
        <p:spPr>
          <a:xfrm>
            <a:off x="4800600" y="34290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长文本扩展 verbose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223760" y="342900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26680" y="34290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测自然篇幅稳定性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160520"/>
            <a:ext cx="8412480" cy="5486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锚点分布:  </a:t>
            </a:r>
            <a:r>
              <a:rPr lang="en-US" sz="12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条真实判例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(含案号/法院/年份)  · </a:t>
            </a: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条法条明文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· </a:t>
            </a:r>
            <a:r>
              <a:rPr lang="en-US" sz="120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27 条规则派生</a:t>
            </a: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(低危/无关)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准确率数据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100 条锚定测试集上的实测表现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整体准确率</a:t>
            </a:r>
            <a:endParaRPr lang="en-US" sz="14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0080" y="1828800"/>
          <a:ext cx="35661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2423160"/>
            <a:ext cx="35661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XX%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640080" y="333756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95% CI ±7%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65760" y="3520440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011680" y="3520440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3767328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011680" y="3767328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4014216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🟡 低危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011680" y="4014216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4261104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🟢 无风险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011680" y="4261104"/>
            <a:ext cx="137160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30A4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XX%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0" y="14173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混淆矩阵 (行=期望 / 列=实际)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0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0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376672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76672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181344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81344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中危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986016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86016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低危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7790688" y="17830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90688" y="17830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72000" y="22402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0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高危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376672" y="2240280"/>
            <a:ext cx="804672" cy="457200"/>
          </a:xfrm>
          <a:prstGeom prst="rect">
            <a:avLst/>
          </a:prstGeom>
          <a:solidFill>
            <a:srgbClr val="FDECEC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76672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181344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81344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986016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986016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7790688" y="22402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790688" y="22402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572000" y="26974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0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中危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376672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76672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181344" y="2697480"/>
            <a:ext cx="804672" cy="457200"/>
          </a:xfrm>
          <a:prstGeom prst="rect">
            <a:avLst/>
          </a:prstGeom>
          <a:solidFill>
            <a:srgbClr val="FFF1E7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81344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6986016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986016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0" name="Shape 47"/>
          <p:cNvSpPr/>
          <p:nvPr/>
        </p:nvSpPr>
        <p:spPr>
          <a:xfrm>
            <a:off x="7790688" y="26974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790688" y="26974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4572000" y="31546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72000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低危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376672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76672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181344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81344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6986016" y="3154680"/>
            <a:ext cx="804672" cy="457200"/>
          </a:xfrm>
          <a:prstGeom prst="rect">
            <a:avLst/>
          </a:prstGeom>
          <a:solidFill>
            <a:srgbClr val="FFF8E6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986016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60" name="Shape 57"/>
          <p:cNvSpPr/>
          <p:nvPr/>
        </p:nvSpPr>
        <p:spPr>
          <a:xfrm>
            <a:off x="7790688" y="31546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7790688" y="31546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2" name="Shape 59"/>
          <p:cNvSpPr/>
          <p:nvPr/>
        </p:nvSpPr>
        <p:spPr>
          <a:xfrm>
            <a:off x="4572000" y="3611880"/>
            <a:ext cx="804672" cy="457200"/>
          </a:xfrm>
          <a:prstGeom prst="rect">
            <a:avLst/>
          </a:prstGeom>
          <a:solidFill>
            <a:srgbClr val="F5F0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572000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无风险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376672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376672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6" name="Shape 63"/>
          <p:cNvSpPr/>
          <p:nvPr/>
        </p:nvSpPr>
        <p:spPr>
          <a:xfrm>
            <a:off x="6181344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181344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68" name="Shape 65"/>
          <p:cNvSpPr/>
          <p:nvPr/>
        </p:nvSpPr>
        <p:spPr>
          <a:xfrm>
            <a:off x="6986016" y="361188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986016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7790688" y="3611880"/>
            <a:ext cx="804672" cy="457200"/>
          </a:xfrm>
          <a:prstGeom prst="rect">
            <a:avLst/>
          </a:prstGeom>
          <a:solidFill>
            <a:srgbClr val="E9F7E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790688" y="3611880"/>
            <a:ext cx="8046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0A4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4572000" y="41148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 = 数据将在评测完成后填入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真实判例锚定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可以拿案号去裁判文书网核对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926080"/>
          </a:xfrm>
          <a:prstGeom prst="rect">
            <a:avLst/>
          </a:prstGeom>
          <a:solidFill>
            <a:srgbClr val="F76808"/>
          </a:solidFill>
        </p:spPr>
      </p:sp>
      <p:sp>
        <p:nvSpPr>
          <p:cNvPr id="11" name="Text 9"/>
          <p:cNvSpPr/>
          <p:nvPr/>
        </p:nvSpPr>
        <p:spPr>
          <a:xfrm>
            <a:off x="50292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6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🟠 中危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严女士 vs 某公司平等就业权纠纷案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688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上海市浦东新区人民法院 · 2023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入职孕检 + 怀孕后撤回 offer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法院:就业歧视,缔约过失责任,赔 3 万余元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D_real_1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1463040"/>
            <a:ext cx="45720" cy="292608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18" name="Text 16"/>
          <p:cNvSpPr/>
          <p:nvPr/>
        </p:nvSpPr>
        <p:spPr>
          <a:xfrm>
            <a:off x="333756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韩坤诉厦门翔鹭化纤股份有限公司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468880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4688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(2009)厦民终字第 2188 号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哺乳期内单位违法解除劳动合同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法院:判赔 39310 元(经济补偿 2 倍)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D_real_2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463040"/>
            <a:ext cx="26517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463040"/>
            <a:ext cx="45720" cy="2926080"/>
          </a:xfrm>
          <a:prstGeom prst="rect">
            <a:avLst/>
          </a:prstGeom>
          <a:solidFill>
            <a:srgbClr val="E5484D"/>
          </a:solidFill>
        </p:spPr>
      </p:sp>
      <p:sp>
        <p:nvSpPr>
          <p:cNvPr id="25" name="Text 23"/>
          <p:cNvSpPr/>
          <p:nvPr/>
        </p:nvSpPr>
        <p:spPr>
          <a:xfrm>
            <a:off x="6172200" y="15544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48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🔴 高危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1828800"/>
            <a:ext cx="2468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周某强制猥亵案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2468880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688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芜湖镜湖区检察院 · 2023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72200" y="2788920"/>
            <a:ext cx="24688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利用求职职权 + 言语威胁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检察:强制猥亵罪,有期徒刑 6 个月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锚定测试集 H_real_1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每条测试用例的 anchor 字段都公开在 eval/test_set.json,欢迎逐条核查。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现场演示 · 婚育询问案例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087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3291840" cy="91440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87452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"面试时 HR 问我打算什么时候结婚生孩子"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↓ 实测 5 秒内返回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FFF1E7"/>
          </a:solidFill>
          <a:ln w="12700">
            <a:solidFill>
              <a:srgbClr val="F768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680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🟠 中危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涉嫌面试环节询问婚育状况的就业歧视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417320"/>
            <a:ext cx="45720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1417320"/>
            <a:ext cx="45720" cy="32004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9" name="Text 17"/>
          <p:cNvSpPr/>
          <p:nvPr/>
        </p:nvSpPr>
        <p:spPr>
          <a:xfrm>
            <a:off x="4434840" y="15087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报告卡同屏呈现 6 块内容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1874520"/>
            <a:ext cx="4434840" cy="2697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🎯 风险标(红/橙/黄/绿)+ 一句话总结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💬 温暖叙事 narrative(共情 + 法律解释)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📋 三档话术(委婉/坚定/正式)+ 一键复制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⚖️ 法条引用(妇权法第43条) + 得理徽标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📁 相似判例卡(法院/案号/裁判要点)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🔍 可折叠"判定依据"(要件状态)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1417320"/>
            <a:ext cx="45720" cy="32004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2" name="Shape 20"/>
          <p:cNvSpPr/>
          <p:nvPr/>
        </p:nvSpPr>
        <p:spPr>
          <a:xfrm>
            <a:off x="8823960" y="1417320"/>
            <a:ext cx="45720" cy="320040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3" name="Shape 21"/>
          <p:cNvSpPr/>
          <p:nvPr/>
        </p:nvSpPr>
        <p:spPr>
          <a:xfrm>
            <a:off x="7315200" y="1508760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9370DB"/>
          </a:solidFill>
        </p:spPr>
      </p:sp>
      <p:sp>
        <p:nvSpPr>
          <p:cNvPr id="24" name="Text 22"/>
          <p:cNvSpPr/>
          <p:nvPr/>
        </p:nvSpPr>
        <p:spPr>
          <a:xfrm>
            <a:off x="7315200" y="1508760"/>
            <a:ext cx="1463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✦ 得理 API 接入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TODO:此处替换为 GIF 录屏(用户输入 → 节点亮起 → 报告卡浮现,8-10 秒)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评委预期质疑 · 提前回应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主动把球接住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17320"/>
            <a:ext cx="45720" cy="5303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Shape 9"/>
          <p:cNvSpPr/>
          <p:nvPr/>
        </p:nvSpPr>
        <p:spPr>
          <a:xfrm>
            <a:off x="502920" y="1536192"/>
            <a:ext cx="292608" cy="292608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12" name="Text 10"/>
          <p:cNvSpPr/>
          <p:nvPr/>
        </p:nvSpPr>
        <p:spPr>
          <a:xfrm>
            <a:off x="502920" y="1508760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8680" y="1453896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"得理 API 空声明"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1536192"/>
            <a:ext cx="292608" cy="29260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15" name="Text 13"/>
          <p:cNvSpPr/>
          <p:nvPr/>
        </p:nvSpPr>
        <p:spPr>
          <a:xfrm>
            <a:off x="3611880" y="1508760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77640" y="1453896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架构图(P5)展示节点;工作流(P6)可见两路并行检索;法条卡片"得理"徽标可见。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020824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020824"/>
            <a:ext cx="45720" cy="5303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9" name="Shape 17"/>
          <p:cNvSpPr/>
          <p:nvPr/>
        </p:nvSpPr>
        <p:spPr>
          <a:xfrm>
            <a:off x="502920" y="2139696"/>
            <a:ext cx="292608" cy="292608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20" name="Text 18"/>
          <p:cNvSpPr/>
          <p:nvPr/>
        </p:nvSpPr>
        <p:spPr>
          <a:xfrm>
            <a:off x="502920" y="2112264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205740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"技术深度不足"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11880" y="2139696"/>
            <a:ext cx="292608" cy="29260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23" name="Text 21"/>
          <p:cNvSpPr/>
          <p:nvPr/>
        </p:nvSpPr>
        <p:spPr>
          <a:xfrm>
            <a:off x="3611880" y="2112264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77640" y="205740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要件式判定 + 代码节点确定性映射 + 100 条锚定测试集 + 95% 置信区间。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624328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624328"/>
            <a:ext cx="45720" cy="5303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27" name="Shape 25"/>
          <p:cNvSpPr/>
          <p:nvPr/>
        </p:nvSpPr>
        <p:spPr>
          <a:xfrm>
            <a:off x="502920" y="2743200"/>
            <a:ext cx="292608" cy="292608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28" name="Text 26"/>
          <p:cNvSpPr/>
          <p:nvPr/>
        </p:nvSpPr>
        <p:spPr>
          <a:xfrm>
            <a:off x="502920" y="2715768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?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" y="2660904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"为什么不直接用 ChatGPT?"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11880" y="2743200"/>
            <a:ext cx="292608" cy="29260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1" name="Text 29"/>
          <p:cNvSpPr/>
          <p:nvPr/>
        </p:nvSpPr>
        <p:spPr>
          <a:xfrm>
            <a:off x="3611880" y="2715768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77640" y="2660904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得理真实判例锚定(GPT 编案号) ② 代码节点确定性映射(GPT 黑盒) ③ 危机干预/三档话术等场景定制 GPT 没有。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227832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3227832"/>
            <a:ext cx="45720" cy="5303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35" name="Shape 33"/>
          <p:cNvSpPr/>
          <p:nvPr/>
        </p:nvSpPr>
        <p:spPr>
          <a:xfrm>
            <a:off x="502920" y="3346704"/>
            <a:ext cx="292608" cy="292608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36" name="Text 34"/>
          <p:cNvSpPr/>
          <p:nvPr/>
        </p:nvSpPr>
        <p:spPr>
          <a:xfrm>
            <a:off x="502920" y="3319272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8680" y="3264408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"测试集准确性凭什么?"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11880" y="3346704"/>
            <a:ext cx="292608" cy="29260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39" name="Text 37"/>
          <p:cNvSpPr/>
          <p:nvPr/>
        </p:nvSpPr>
        <p:spPr>
          <a:xfrm>
            <a:off x="3611880" y="3319272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977640" y="3264408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条直接挂真实判例(含案号),公开在仓库 eval/test_set.json,评委可逐条核查。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831336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AE3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831336"/>
            <a:ext cx="45720" cy="530352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43" name="Shape 41"/>
          <p:cNvSpPr/>
          <p:nvPr/>
        </p:nvSpPr>
        <p:spPr>
          <a:xfrm>
            <a:off x="502920" y="3950208"/>
            <a:ext cx="292608" cy="292608"/>
          </a:xfrm>
          <a:prstGeom prst="ellipse">
            <a:avLst/>
          </a:prstGeom>
          <a:solidFill>
            <a:srgbClr val="9370DB"/>
          </a:solidFill>
        </p:spPr>
      </p:sp>
      <p:sp>
        <p:nvSpPr>
          <p:cNvPr id="44" name="Text 42"/>
          <p:cNvSpPr/>
          <p:nvPr/>
        </p:nvSpPr>
        <p:spPr>
          <a:xfrm>
            <a:off x="502920" y="3922776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?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868680" y="3867912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"AI 误判怎么办?"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11880" y="3950208"/>
            <a:ext cx="292608" cy="292608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47" name="Text 45"/>
          <p:cNvSpPr/>
          <p:nvPr/>
        </p:nvSpPr>
        <p:spPr>
          <a:xfrm>
            <a:off x="3611880" y="3922776"/>
            <a:ext cx="292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977640" y="3867912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召回优先门控 + 用户一键强制深度分析,即使算法犯错,用户仍有发言权。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"我们想过了。"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社会价值 · 降低三道门槛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让每一个"本该沉默的瞬间",都有回应的能力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63040"/>
            <a:ext cx="45720" cy="2011680"/>
          </a:xfrm>
          <a:prstGeom prst="rect">
            <a:avLst/>
          </a:prstGeom>
          <a:solidFill>
            <a:srgbClr val="9370DB"/>
          </a:solidFill>
        </p:spPr>
      </p:sp>
      <p:sp>
        <p:nvSpPr>
          <p:cNvPr id="11" name="Text 9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🧠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心理门槛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情绪承接 + 共鸣社区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让用户不再孤单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463040"/>
            <a:ext cx="45720" cy="2011680"/>
          </a:xfrm>
          <a:prstGeom prst="rect">
            <a:avLst/>
          </a:prstGeom>
          <a:solidFill>
            <a:srgbClr val="7B5DC4"/>
          </a:solidFill>
        </p:spPr>
      </p:sp>
      <p:sp>
        <p:nvSpPr>
          <p:cNvPr id="16" name="Text 14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📚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信息门槛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法条白话 + 权利清单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让用户看清规则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463040"/>
            <a:ext cx="26517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AE3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463040"/>
            <a:ext cx="45720" cy="2011680"/>
          </a:xfrm>
          <a:prstGeom prst="rect">
            <a:avLst/>
          </a:prstGeom>
          <a:solidFill>
            <a:srgbClr val="E8B4B8"/>
          </a:solidFill>
        </p:spPr>
      </p:sp>
      <p:sp>
        <p:nvSpPr>
          <p:cNvPr id="21" name="Text 19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000000"/>
                </a:solidFill>
              </a:rPr>
              <a:t>🔧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035040" y="219456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技术门槛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60604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操作级取证指导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让用户会取证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03320"/>
            <a:ext cx="8412480" cy="96012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让更多女性 </a:t>
            </a:r>
            <a:r>
              <a:rPr lang="en-US" sz="2000" dirty="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从</a:t>
            </a:r>
            <a:r>
              <a:rPr lang="en-US" sz="2000" i="1" dirty="0">
                <a:solidFill>
                  <a:srgbClr val="999999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"算了吧"</a:t>
            </a:r>
            <a:r>
              <a:rPr lang="en-US" sz="2000" b="1" dirty="0">
                <a:solidFill>
                  <a:srgbClr val="9370D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  →  </a:t>
            </a:r>
            <a:r>
              <a:rPr lang="en-US" sz="20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"我知道该怎么做了"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— 技术是理性的,但使用技术的人是有温度的。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3657600"/>
            <a:ext cx="1645920" cy="1645920"/>
          </a:xfrm>
          <a:prstGeom prst="ellipse">
            <a:avLst/>
          </a:prstGeom>
          <a:solidFill>
            <a:srgbClr val="F5F0FF">
              <a:alpha val="70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365760" y="1645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第十七届中国大学生服务外包</a:t>
            </a:r>
            <a:r>
              <a:rPr lang="zh-CN" alt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创新创业</a:t>
            </a:r>
            <a:r>
              <a:rPr lang="en-US" sz="900" kern="0" spc="1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大赛 D06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138160" y="164592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84632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457200"/>
            <a:ext cx="8412480" cy="0"/>
          </a:xfrm>
          <a:prstGeom prst="line">
            <a:avLst/>
          </a:prstGeom>
          <a:noFill/>
          <a:ln w="6350">
            <a:solidFill>
              <a:srgbClr val="B8A9E0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566928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致谢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感谢一路给力的人、平台与判例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🛠 工具与平台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腾讯元器 — 5 大智能体编排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得理开放平台 — 法规与类案 API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CloudBase — 后端代理与社区存储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CodeBuddy — 辅助开发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50876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⚖️ 判例与机构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874520"/>
            <a:ext cx="41148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最高人民法院典型案例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各级人民法院判决书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检察机关发布典型案件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全国妇联 / 人社部相关数据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5F0FF"/>
          </a:solidFill>
          <a:ln w="6350">
            <a:solidFill>
              <a:srgbClr val="B8A9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30752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5DC4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🌸 她说了算队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40690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 成员姓名 1 · 成员 2 · 成员 3(角色/分工)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70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GitHub: github.com/Huangjwwen/her_shield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solidFill>
            <a:srgbClr val="FFFFFF"/>
          </a:solidFill>
          <a:ln w="25400">
            <a:solidFill>
              <a:srgbClr val="9370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3749040"/>
            <a:ext cx="868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扫码看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46520" y="406908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B5D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GitHub 仓库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46520" y="4297680"/>
            <a:ext cx="8686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9999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TODO: 二维码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B5D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9370DB">
              <a:alpha val="3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400800" y="3657600"/>
            <a:ext cx="4572000" cy="4572000"/>
          </a:xfrm>
          <a:prstGeom prst="ellipse">
            <a:avLst/>
          </a:prstGeom>
          <a:solidFill>
            <a:srgbClr val="E8B4B8">
              <a:alpha val="3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0" b="1" kern="0" spc="2400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Q &amp; A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期待您的提问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300" dirty="0">
                <a:solidFill>
                  <a:srgbClr val="B8A9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她说了算队 · 她盾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3432</Words>
  <Application>WPS 演示</Application>
  <PresentationFormat>On-screen Show (16:9)</PresentationFormat>
  <Paragraphs>706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</vt:lpstr>
      <vt:lpstr>宋体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她盾 答辩 PPT</dc:title>
  <dc:creator>她说了算队</dc:creator>
  <dc:subject>职场女性权益守护智能体</dc:subject>
  <cp:lastModifiedBy>Sakura.</cp:lastModifiedBy>
  <cp:revision>3</cp:revision>
  <dcterms:created xsi:type="dcterms:W3CDTF">2026-05-31T15:00:00Z</dcterms:created>
  <dcterms:modified xsi:type="dcterms:W3CDTF">2026-05-31T23:28:38Z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725F1D46EDAE4D95B5CACA75E247EA56_12</vt:lpwstr>
  </property>
</Properties>
</file>